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10691813" cy="1511935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4762">
          <p15:clr>
            <a:srgbClr val="A4A3A4"/>
          </p15:clr>
        </p15:guide>
        <p15:guide id="2" pos="336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-958" y="1960"/>
      </p:cViewPr>
      <p:guideLst>
        <p:guide orient="horz" pos="4762"/>
        <p:guide pos="33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Perfect scaling</c:v>
                </c:pt>
              </c:strCache>
            </c:strRef>
          </c:tx>
          <c:spPr>
            <a:ln w="28575">
              <a:solidFill>
                <a:srgbClr val="7F7F7F"/>
              </a:solidFill>
              <a:prstDash val="dash"/>
            </a:ln>
          </c:spPr>
          <c:marker>
            <c:symbol val="circle"/>
            <c:size val="5"/>
            <c:spPr>
              <a:solidFill>
                <a:srgbClr val="7F7F7F"/>
              </a:solidFill>
              <a:ln>
                <a:solidFill>
                  <a:srgbClr val="7F7F7F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26.2</c:v>
                </c:pt>
                <c:pt idx="1">
                  <c:v>52.4</c:v>
                </c:pt>
                <c:pt idx="2">
                  <c:v>78.5</c:v>
                </c:pt>
                <c:pt idx="3">
                  <c:v>104.7</c:v>
                </c:pt>
                <c:pt idx="4">
                  <c:v>130.9</c:v>
                </c:pt>
                <c:pt idx="5">
                  <c:v>157.1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Wide aisles (2 carts)</c:v>
                </c:pt>
              </c:strCache>
            </c:strRef>
          </c:tx>
          <c:spPr>
            <a:ln w="28575">
              <a:solidFill>
                <a:srgbClr val="2340B8"/>
              </a:solidFill>
            </a:ln>
          </c:spPr>
          <c:marker>
            <c:symbol val="circle"/>
            <c:size val="5"/>
            <c:spPr>
              <a:solidFill>
                <a:srgbClr val="2340B8"/>
              </a:solidFill>
              <a:ln>
                <a:solidFill>
                  <a:srgbClr val="2340B8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26.2</c:v>
                </c:pt>
                <c:pt idx="1">
                  <c:v>52.4</c:v>
                </c:pt>
                <c:pt idx="2">
                  <c:v>77.8</c:v>
                </c:pt>
                <c:pt idx="3">
                  <c:v>102.3</c:v>
                </c:pt>
                <c:pt idx="4">
                  <c:v>125.3</c:v>
                </c:pt>
                <c:pt idx="5">
                  <c:v>146.0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Narrow aisles (1 cart)</c:v>
                </c:pt>
              </c:strCache>
            </c:strRef>
          </c:tx>
          <c:spPr>
            <a:ln w="28575">
              <a:solidFill>
                <a:srgbClr val="E0442A"/>
              </a:solidFill>
            </a:ln>
          </c:spPr>
          <c:marker>
            <c:symbol val="circle"/>
            <c:size val="5"/>
            <c:spPr>
              <a:solidFill>
                <a:srgbClr val="E0442A"/>
              </a:solidFill>
              <a:ln>
                <a:solidFill>
                  <a:srgbClr val="E0442A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26.2</c:v>
                </c:pt>
                <c:pt idx="1">
                  <c:v>48.0</c:v>
                </c:pt>
                <c:pt idx="2">
                  <c:v>66.2</c:v>
                </c:pt>
                <c:pt idx="3">
                  <c:v>80.8</c:v>
                </c:pt>
                <c:pt idx="4">
                  <c:v>92.8</c:v>
                </c:pt>
                <c:pt idx="5">
                  <c:v>101.4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800"/>
                  <a:t>pickers on the floor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800"/>
                  <a:t>orders / hour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800"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900"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2" name="Google Shape;1042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5595894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0" name="Google Shape;112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6150" y="685800"/>
            <a:ext cx="24257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p2"/>
          <p:cNvSpPr txBox="1">
            <a:spLocks noGrp="1"/>
          </p:cNvSpPr>
          <p:nvPr>
            <p:ph type="title"/>
          </p:nvPr>
        </p:nvSpPr>
        <p:spPr>
          <a:xfrm>
            <a:off x="735062" y="804969"/>
            <a:ext cx="9221700" cy="29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1" name="Google Shape;1051;p2"/>
          <p:cNvSpPr txBox="1">
            <a:spLocks noGrp="1"/>
          </p:cNvSpPr>
          <p:nvPr>
            <p:ph type="dt" idx="10"/>
          </p:nvPr>
        </p:nvSpPr>
        <p:spPr>
          <a:xfrm>
            <a:off x="735062" y="14013401"/>
            <a:ext cx="24057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2" name="Google Shape;1052;p2"/>
          <p:cNvSpPr txBox="1">
            <a:spLocks noGrp="1"/>
          </p:cNvSpPr>
          <p:nvPr>
            <p:ph type="ftr" idx="11"/>
          </p:nvPr>
        </p:nvSpPr>
        <p:spPr>
          <a:xfrm>
            <a:off x="3541663" y="14013401"/>
            <a:ext cx="36084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3" name="Google Shape;1053;p2"/>
          <p:cNvSpPr txBox="1">
            <a:spLocks noGrp="1"/>
          </p:cNvSpPr>
          <p:nvPr>
            <p:ph type="sldNum" idx="12"/>
          </p:nvPr>
        </p:nvSpPr>
        <p:spPr>
          <a:xfrm>
            <a:off x="7551093" y="14013401"/>
            <a:ext cx="24057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3"/>
          <p:cNvSpPr txBox="1">
            <a:spLocks noGrp="1"/>
          </p:cNvSpPr>
          <p:nvPr>
            <p:ph type="ctrTitle"/>
          </p:nvPr>
        </p:nvSpPr>
        <p:spPr>
          <a:xfrm>
            <a:off x="801886" y="2474395"/>
            <a:ext cx="9087900" cy="52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945"/>
              <a:buFont typeface="Calibri"/>
              <a:buNone/>
              <a:defRPr sz="6944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6" name="Google Shape;1056;p3"/>
          <p:cNvSpPr txBox="1">
            <a:spLocks noGrp="1"/>
          </p:cNvSpPr>
          <p:nvPr>
            <p:ph type="subTitle" idx="1"/>
          </p:nvPr>
        </p:nvSpPr>
        <p:spPr>
          <a:xfrm>
            <a:off x="1336477" y="7941160"/>
            <a:ext cx="8019000" cy="36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1158"/>
              </a:spcBef>
              <a:spcAft>
                <a:spcPts val="0"/>
              </a:spcAft>
              <a:buClr>
                <a:schemeClr val="dk1"/>
              </a:buClr>
              <a:buSzPts val="2778"/>
              <a:buNone/>
              <a:defRPr sz="2778"/>
            </a:lvl1pPr>
            <a:lvl2pPr lvl="1" algn="ctr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2315"/>
              <a:buNone/>
              <a:defRPr sz="2315"/>
            </a:lvl2pPr>
            <a:lvl3pPr lvl="2" algn="ctr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2083"/>
              <a:buNone/>
              <a:defRPr sz="2083"/>
            </a:lvl3pPr>
            <a:lvl4pPr lvl="3" algn="ctr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52"/>
              <a:buNone/>
              <a:defRPr sz="1852"/>
            </a:lvl4pPr>
            <a:lvl5pPr lvl="4" algn="ctr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52"/>
              <a:buNone/>
              <a:defRPr sz="1852"/>
            </a:lvl5pPr>
            <a:lvl6pPr lvl="5" algn="ctr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52"/>
              <a:buNone/>
              <a:defRPr sz="1852"/>
            </a:lvl6pPr>
            <a:lvl7pPr lvl="6" algn="ctr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52"/>
              <a:buNone/>
              <a:defRPr sz="1852"/>
            </a:lvl7pPr>
            <a:lvl8pPr lvl="7" algn="ctr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52"/>
              <a:buNone/>
              <a:defRPr sz="1852"/>
            </a:lvl8pPr>
            <a:lvl9pPr lvl="8" algn="ctr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52"/>
              <a:buNone/>
              <a:defRPr sz="1852"/>
            </a:lvl9pPr>
          </a:lstStyle>
          <a:p>
            <a:endParaRPr/>
          </a:p>
        </p:txBody>
      </p:sp>
      <p:sp>
        <p:nvSpPr>
          <p:cNvPr id="1057" name="Google Shape;1057;p3"/>
          <p:cNvSpPr txBox="1">
            <a:spLocks noGrp="1"/>
          </p:cNvSpPr>
          <p:nvPr>
            <p:ph type="dt" idx="10"/>
          </p:nvPr>
        </p:nvSpPr>
        <p:spPr>
          <a:xfrm>
            <a:off x="735062" y="14013401"/>
            <a:ext cx="24057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8" name="Google Shape;1058;p3"/>
          <p:cNvSpPr txBox="1">
            <a:spLocks noGrp="1"/>
          </p:cNvSpPr>
          <p:nvPr>
            <p:ph type="ftr" idx="11"/>
          </p:nvPr>
        </p:nvSpPr>
        <p:spPr>
          <a:xfrm>
            <a:off x="3541663" y="14013401"/>
            <a:ext cx="36084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9" name="Google Shape;1059;p3"/>
          <p:cNvSpPr txBox="1">
            <a:spLocks noGrp="1"/>
          </p:cNvSpPr>
          <p:nvPr>
            <p:ph type="sldNum" idx="12"/>
          </p:nvPr>
        </p:nvSpPr>
        <p:spPr>
          <a:xfrm>
            <a:off x="7551093" y="14013401"/>
            <a:ext cx="24057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4"/>
          <p:cNvSpPr txBox="1">
            <a:spLocks noGrp="1"/>
          </p:cNvSpPr>
          <p:nvPr>
            <p:ph type="title"/>
          </p:nvPr>
        </p:nvSpPr>
        <p:spPr>
          <a:xfrm>
            <a:off x="735062" y="804969"/>
            <a:ext cx="9221700" cy="29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2" name="Google Shape;1062;p4"/>
          <p:cNvSpPr txBox="1">
            <a:spLocks noGrp="1"/>
          </p:cNvSpPr>
          <p:nvPr>
            <p:ph type="body" idx="1"/>
          </p:nvPr>
        </p:nvSpPr>
        <p:spPr>
          <a:xfrm>
            <a:off x="735062" y="4024827"/>
            <a:ext cx="9221700" cy="9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15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63" name="Google Shape;1063;p4"/>
          <p:cNvSpPr txBox="1">
            <a:spLocks noGrp="1"/>
          </p:cNvSpPr>
          <p:nvPr>
            <p:ph type="dt" idx="10"/>
          </p:nvPr>
        </p:nvSpPr>
        <p:spPr>
          <a:xfrm>
            <a:off x="735062" y="14013401"/>
            <a:ext cx="24057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4" name="Google Shape;1064;p4"/>
          <p:cNvSpPr txBox="1">
            <a:spLocks noGrp="1"/>
          </p:cNvSpPr>
          <p:nvPr>
            <p:ph type="ftr" idx="11"/>
          </p:nvPr>
        </p:nvSpPr>
        <p:spPr>
          <a:xfrm>
            <a:off x="3541663" y="14013401"/>
            <a:ext cx="36084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5" name="Google Shape;1065;p4"/>
          <p:cNvSpPr txBox="1">
            <a:spLocks noGrp="1"/>
          </p:cNvSpPr>
          <p:nvPr>
            <p:ph type="sldNum" idx="12"/>
          </p:nvPr>
        </p:nvSpPr>
        <p:spPr>
          <a:xfrm>
            <a:off x="7551093" y="14013401"/>
            <a:ext cx="24057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p5"/>
          <p:cNvSpPr txBox="1">
            <a:spLocks noGrp="1"/>
          </p:cNvSpPr>
          <p:nvPr>
            <p:ph type="title"/>
          </p:nvPr>
        </p:nvSpPr>
        <p:spPr>
          <a:xfrm>
            <a:off x="729494" y="3769342"/>
            <a:ext cx="9221700" cy="6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945"/>
              <a:buFont typeface="Calibri"/>
              <a:buNone/>
              <a:defRPr sz="6944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8" name="Google Shape;1068;p5"/>
          <p:cNvSpPr txBox="1">
            <a:spLocks noGrp="1"/>
          </p:cNvSpPr>
          <p:nvPr>
            <p:ph type="body" idx="1"/>
          </p:nvPr>
        </p:nvSpPr>
        <p:spPr>
          <a:xfrm>
            <a:off x="729494" y="10118069"/>
            <a:ext cx="9221700" cy="3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158"/>
              </a:spcBef>
              <a:spcAft>
                <a:spcPts val="0"/>
              </a:spcAft>
              <a:buClr>
                <a:schemeClr val="dk1"/>
              </a:buClr>
              <a:buSzPts val="2778"/>
              <a:buNone/>
              <a:defRPr sz="2778">
                <a:solidFill>
                  <a:schemeClr val="dk1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rgbClr val="888888"/>
              </a:buClr>
              <a:buSzPts val="2315"/>
              <a:buNone/>
              <a:defRPr sz="2315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rgbClr val="888888"/>
              </a:buClr>
              <a:buSzPts val="2083"/>
              <a:buNone/>
              <a:defRPr sz="2083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rgbClr val="888888"/>
              </a:buClr>
              <a:buSzPts val="1852"/>
              <a:buNone/>
              <a:defRPr sz="1852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rgbClr val="888888"/>
              </a:buClr>
              <a:buSzPts val="1852"/>
              <a:buNone/>
              <a:defRPr sz="1852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rgbClr val="888888"/>
              </a:buClr>
              <a:buSzPts val="1852"/>
              <a:buNone/>
              <a:defRPr sz="1852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rgbClr val="888888"/>
              </a:buClr>
              <a:buSzPts val="1852"/>
              <a:buNone/>
              <a:defRPr sz="1852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rgbClr val="888888"/>
              </a:buClr>
              <a:buSzPts val="1852"/>
              <a:buNone/>
              <a:defRPr sz="1852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rgbClr val="888888"/>
              </a:buClr>
              <a:buSzPts val="1852"/>
              <a:buNone/>
              <a:defRPr sz="1852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69" name="Google Shape;1069;p5"/>
          <p:cNvSpPr txBox="1">
            <a:spLocks noGrp="1"/>
          </p:cNvSpPr>
          <p:nvPr>
            <p:ph type="dt" idx="10"/>
          </p:nvPr>
        </p:nvSpPr>
        <p:spPr>
          <a:xfrm>
            <a:off x="735062" y="14013401"/>
            <a:ext cx="24057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0" name="Google Shape;1070;p5"/>
          <p:cNvSpPr txBox="1">
            <a:spLocks noGrp="1"/>
          </p:cNvSpPr>
          <p:nvPr>
            <p:ph type="ftr" idx="11"/>
          </p:nvPr>
        </p:nvSpPr>
        <p:spPr>
          <a:xfrm>
            <a:off x="3541663" y="14013401"/>
            <a:ext cx="36084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1" name="Google Shape;1071;p5"/>
          <p:cNvSpPr txBox="1">
            <a:spLocks noGrp="1"/>
          </p:cNvSpPr>
          <p:nvPr>
            <p:ph type="sldNum" idx="12"/>
          </p:nvPr>
        </p:nvSpPr>
        <p:spPr>
          <a:xfrm>
            <a:off x="7551093" y="14013401"/>
            <a:ext cx="24057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6"/>
          <p:cNvSpPr txBox="1">
            <a:spLocks noGrp="1"/>
          </p:cNvSpPr>
          <p:nvPr>
            <p:ph type="title"/>
          </p:nvPr>
        </p:nvSpPr>
        <p:spPr>
          <a:xfrm>
            <a:off x="735062" y="804969"/>
            <a:ext cx="9221700" cy="29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4" name="Google Shape;1074;p6"/>
          <p:cNvSpPr txBox="1">
            <a:spLocks noGrp="1"/>
          </p:cNvSpPr>
          <p:nvPr>
            <p:ph type="body" idx="1"/>
          </p:nvPr>
        </p:nvSpPr>
        <p:spPr>
          <a:xfrm>
            <a:off x="735062" y="4024827"/>
            <a:ext cx="4544100" cy="9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15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75" name="Google Shape;1075;p6"/>
          <p:cNvSpPr txBox="1">
            <a:spLocks noGrp="1"/>
          </p:cNvSpPr>
          <p:nvPr>
            <p:ph type="body" idx="2"/>
          </p:nvPr>
        </p:nvSpPr>
        <p:spPr>
          <a:xfrm>
            <a:off x="5412730" y="4024827"/>
            <a:ext cx="4544100" cy="9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15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76" name="Google Shape;1076;p6"/>
          <p:cNvSpPr txBox="1">
            <a:spLocks noGrp="1"/>
          </p:cNvSpPr>
          <p:nvPr>
            <p:ph type="dt" idx="10"/>
          </p:nvPr>
        </p:nvSpPr>
        <p:spPr>
          <a:xfrm>
            <a:off x="735062" y="14013401"/>
            <a:ext cx="24057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7" name="Google Shape;1077;p6"/>
          <p:cNvSpPr txBox="1">
            <a:spLocks noGrp="1"/>
          </p:cNvSpPr>
          <p:nvPr>
            <p:ph type="ftr" idx="11"/>
          </p:nvPr>
        </p:nvSpPr>
        <p:spPr>
          <a:xfrm>
            <a:off x="3541663" y="14013401"/>
            <a:ext cx="36084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8" name="Google Shape;1078;p6"/>
          <p:cNvSpPr txBox="1">
            <a:spLocks noGrp="1"/>
          </p:cNvSpPr>
          <p:nvPr>
            <p:ph type="sldNum" idx="12"/>
          </p:nvPr>
        </p:nvSpPr>
        <p:spPr>
          <a:xfrm>
            <a:off x="7551093" y="14013401"/>
            <a:ext cx="24057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7"/>
          <p:cNvSpPr txBox="1">
            <a:spLocks noGrp="1"/>
          </p:cNvSpPr>
          <p:nvPr>
            <p:ph type="title"/>
          </p:nvPr>
        </p:nvSpPr>
        <p:spPr>
          <a:xfrm>
            <a:off x="736455" y="804969"/>
            <a:ext cx="9221700" cy="29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1" name="Google Shape;1081;p7"/>
          <p:cNvSpPr txBox="1">
            <a:spLocks noGrp="1"/>
          </p:cNvSpPr>
          <p:nvPr>
            <p:ph type="body" idx="1"/>
          </p:nvPr>
        </p:nvSpPr>
        <p:spPr>
          <a:xfrm>
            <a:off x="736456" y="3706342"/>
            <a:ext cx="4523100" cy="181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158"/>
              </a:spcBef>
              <a:spcAft>
                <a:spcPts val="0"/>
              </a:spcAft>
              <a:buClr>
                <a:schemeClr val="dk1"/>
              </a:buClr>
              <a:buSzPts val="2778"/>
              <a:buNone/>
              <a:defRPr sz="2778" b="1"/>
            </a:lvl1pPr>
            <a:lvl2pPr marL="914400" lvl="1" indent="-2286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2315"/>
              <a:buNone/>
              <a:defRPr sz="2315" b="1"/>
            </a:lvl2pPr>
            <a:lvl3pPr marL="1371600" lvl="2" indent="-2286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2083"/>
              <a:buNone/>
              <a:defRPr sz="2083" b="1"/>
            </a:lvl3pPr>
            <a:lvl4pPr marL="1828800" lvl="3" indent="-2286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52"/>
              <a:buNone/>
              <a:defRPr sz="1852" b="1"/>
            </a:lvl4pPr>
            <a:lvl5pPr marL="2286000" lvl="4" indent="-2286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52"/>
              <a:buNone/>
              <a:defRPr sz="1852" b="1"/>
            </a:lvl5pPr>
            <a:lvl6pPr marL="2743200" lvl="5" indent="-2286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52"/>
              <a:buNone/>
              <a:defRPr sz="1852" b="1"/>
            </a:lvl6pPr>
            <a:lvl7pPr marL="3200400" lvl="6" indent="-2286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52"/>
              <a:buNone/>
              <a:defRPr sz="1852" b="1"/>
            </a:lvl7pPr>
            <a:lvl8pPr marL="3657600" lvl="7" indent="-2286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52"/>
              <a:buNone/>
              <a:defRPr sz="1852" b="1"/>
            </a:lvl8pPr>
            <a:lvl9pPr marL="4114800" lvl="8" indent="-2286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52"/>
              <a:buNone/>
              <a:defRPr sz="1852" b="1"/>
            </a:lvl9pPr>
          </a:lstStyle>
          <a:p>
            <a:endParaRPr/>
          </a:p>
        </p:txBody>
      </p:sp>
      <p:sp>
        <p:nvSpPr>
          <p:cNvPr id="1082" name="Google Shape;1082;p7"/>
          <p:cNvSpPr txBox="1">
            <a:spLocks noGrp="1"/>
          </p:cNvSpPr>
          <p:nvPr>
            <p:ph type="body" idx="2"/>
          </p:nvPr>
        </p:nvSpPr>
        <p:spPr>
          <a:xfrm>
            <a:off x="736456" y="5522762"/>
            <a:ext cx="4523100" cy="81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15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3" name="Google Shape;1083;p7"/>
          <p:cNvSpPr txBox="1">
            <a:spLocks noGrp="1"/>
          </p:cNvSpPr>
          <p:nvPr>
            <p:ph type="body" idx="3"/>
          </p:nvPr>
        </p:nvSpPr>
        <p:spPr>
          <a:xfrm>
            <a:off x="5412731" y="3706342"/>
            <a:ext cx="4545300" cy="181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158"/>
              </a:spcBef>
              <a:spcAft>
                <a:spcPts val="0"/>
              </a:spcAft>
              <a:buClr>
                <a:schemeClr val="dk1"/>
              </a:buClr>
              <a:buSzPts val="2778"/>
              <a:buNone/>
              <a:defRPr sz="2778" b="1"/>
            </a:lvl1pPr>
            <a:lvl2pPr marL="914400" lvl="1" indent="-2286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2315"/>
              <a:buNone/>
              <a:defRPr sz="2315" b="1"/>
            </a:lvl2pPr>
            <a:lvl3pPr marL="1371600" lvl="2" indent="-2286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2083"/>
              <a:buNone/>
              <a:defRPr sz="2083" b="1"/>
            </a:lvl3pPr>
            <a:lvl4pPr marL="1828800" lvl="3" indent="-2286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52"/>
              <a:buNone/>
              <a:defRPr sz="1852" b="1"/>
            </a:lvl4pPr>
            <a:lvl5pPr marL="2286000" lvl="4" indent="-2286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52"/>
              <a:buNone/>
              <a:defRPr sz="1852" b="1"/>
            </a:lvl5pPr>
            <a:lvl6pPr marL="2743200" lvl="5" indent="-2286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52"/>
              <a:buNone/>
              <a:defRPr sz="1852" b="1"/>
            </a:lvl6pPr>
            <a:lvl7pPr marL="3200400" lvl="6" indent="-2286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52"/>
              <a:buNone/>
              <a:defRPr sz="1852" b="1"/>
            </a:lvl7pPr>
            <a:lvl8pPr marL="3657600" lvl="7" indent="-2286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52"/>
              <a:buNone/>
              <a:defRPr sz="1852" b="1"/>
            </a:lvl8pPr>
            <a:lvl9pPr marL="4114800" lvl="8" indent="-2286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52"/>
              <a:buNone/>
              <a:defRPr sz="1852" b="1"/>
            </a:lvl9pPr>
          </a:lstStyle>
          <a:p>
            <a:endParaRPr/>
          </a:p>
        </p:txBody>
      </p:sp>
      <p:sp>
        <p:nvSpPr>
          <p:cNvPr id="1084" name="Google Shape;1084;p7"/>
          <p:cNvSpPr txBox="1">
            <a:spLocks noGrp="1"/>
          </p:cNvSpPr>
          <p:nvPr>
            <p:ph type="body" idx="4"/>
          </p:nvPr>
        </p:nvSpPr>
        <p:spPr>
          <a:xfrm>
            <a:off x="5412731" y="5522762"/>
            <a:ext cx="4545300" cy="81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15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5" name="Google Shape;1085;p7"/>
          <p:cNvSpPr txBox="1">
            <a:spLocks noGrp="1"/>
          </p:cNvSpPr>
          <p:nvPr>
            <p:ph type="dt" idx="10"/>
          </p:nvPr>
        </p:nvSpPr>
        <p:spPr>
          <a:xfrm>
            <a:off x="735062" y="14013401"/>
            <a:ext cx="24057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6" name="Google Shape;1086;p7"/>
          <p:cNvSpPr txBox="1">
            <a:spLocks noGrp="1"/>
          </p:cNvSpPr>
          <p:nvPr>
            <p:ph type="ftr" idx="11"/>
          </p:nvPr>
        </p:nvSpPr>
        <p:spPr>
          <a:xfrm>
            <a:off x="3541663" y="14013401"/>
            <a:ext cx="36084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7" name="Google Shape;1087;p7"/>
          <p:cNvSpPr txBox="1">
            <a:spLocks noGrp="1"/>
          </p:cNvSpPr>
          <p:nvPr>
            <p:ph type="sldNum" idx="12"/>
          </p:nvPr>
        </p:nvSpPr>
        <p:spPr>
          <a:xfrm>
            <a:off x="7551093" y="14013401"/>
            <a:ext cx="24057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p8"/>
          <p:cNvSpPr txBox="1">
            <a:spLocks noGrp="1"/>
          </p:cNvSpPr>
          <p:nvPr>
            <p:ph type="dt" idx="10"/>
          </p:nvPr>
        </p:nvSpPr>
        <p:spPr>
          <a:xfrm>
            <a:off x="735062" y="14013401"/>
            <a:ext cx="24057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0" name="Google Shape;1090;p8"/>
          <p:cNvSpPr txBox="1">
            <a:spLocks noGrp="1"/>
          </p:cNvSpPr>
          <p:nvPr>
            <p:ph type="ftr" idx="11"/>
          </p:nvPr>
        </p:nvSpPr>
        <p:spPr>
          <a:xfrm>
            <a:off x="3541663" y="14013401"/>
            <a:ext cx="36084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1" name="Google Shape;1091;p8"/>
          <p:cNvSpPr txBox="1">
            <a:spLocks noGrp="1"/>
          </p:cNvSpPr>
          <p:nvPr>
            <p:ph type="sldNum" idx="12"/>
          </p:nvPr>
        </p:nvSpPr>
        <p:spPr>
          <a:xfrm>
            <a:off x="7551093" y="14013401"/>
            <a:ext cx="24057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p9"/>
          <p:cNvSpPr txBox="1">
            <a:spLocks noGrp="1"/>
          </p:cNvSpPr>
          <p:nvPr>
            <p:ph type="title"/>
          </p:nvPr>
        </p:nvSpPr>
        <p:spPr>
          <a:xfrm>
            <a:off x="736455" y="1007957"/>
            <a:ext cx="3448500" cy="3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4"/>
              <a:buFont typeface="Calibri"/>
              <a:buNone/>
              <a:defRPr sz="3704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4" name="Google Shape;1094;p9"/>
          <p:cNvSpPr txBox="1">
            <a:spLocks noGrp="1"/>
          </p:cNvSpPr>
          <p:nvPr>
            <p:ph type="body" idx="1"/>
          </p:nvPr>
        </p:nvSpPr>
        <p:spPr>
          <a:xfrm>
            <a:off x="4545413" y="2176910"/>
            <a:ext cx="5412600" cy="107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63804" algn="l" rtl="0">
              <a:lnSpc>
                <a:spcPct val="90000"/>
              </a:lnSpc>
              <a:spcBef>
                <a:spcPts val="1158"/>
              </a:spcBef>
              <a:spcAft>
                <a:spcPts val="0"/>
              </a:spcAft>
              <a:buClr>
                <a:schemeClr val="dk1"/>
              </a:buClr>
              <a:buSzPts val="3704"/>
              <a:buChar char="•"/>
              <a:defRPr sz="3704"/>
            </a:lvl1pPr>
            <a:lvl2pPr marL="914400" lvl="1" indent="-434403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3241"/>
              <a:buChar char="•"/>
              <a:defRPr sz="3241"/>
            </a:lvl2pPr>
            <a:lvl3pPr marL="1371600" lvl="2" indent="-405003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2778"/>
              <a:buChar char="•"/>
              <a:defRPr sz="2778"/>
            </a:lvl3pPr>
            <a:lvl4pPr marL="1828800" lvl="3" indent="-375602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2315"/>
              <a:buChar char="•"/>
              <a:defRPr sz="2315"/>
            </a:lvl4pPr>
            <a:lvl5pPr marL="2286000" lvl="4" indent="-375602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2315"/>
              <a:buChar char="•"/>
              <a:defRPr sz="2315"/>
            </a:lvl5pPr>
            <a:lvl6pPr marL="2743200" lvl="5" indent="-375602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2315"/>
              <a:buChar char="•"/>
              <a:defRPr sz="2315"/>
            </a:lvl6pPr>
            <a:lvl7pPr marL="3200400" lvl="6" indent="-375602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2315"/>
              <a:buChar char="•"/>
              <a:defRPr sz="2315"/>
            </a:lvl7pPr>
            <a:lvl8pPr marL="3657600" lvl="7" indent="-375602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2315"/>
              <a:buChar char="•"/>
              <a:defRPr sz="2315"/>
            </a:lvl8pPr>
            <a:lvl9pPr marL="4114800" lvl="8" indent="-375602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2315"/>
              <a:buChar char="•"/>
              <a:defRPr sz="2315"/>
            </a:lvl9pPr>
          </a:lstStyle>
          <a:p>
            <a:endParaRPr/>
          </a:p>
        </p:txBody>
      </p:sp>
      <p:sp>
        <p:nvSpPr>
          <p:cNvPr id="1095" name="Google Shape;1095;p9"/>
          <p:cNvSpPr txBox="1">
            <a:spLocks noGrp="1"/>
          </p:cNvSpPr>
          <p:nvPr>
            <p:ph type="body" idx="2"/>
          </p:nvPr>
        </p:nvSpPr>
        <p:spPr>
          <a:xfrm>
            <a:off x="736455" y="4535805"/>
            <a:ext cx="3448500" cy="84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158"/>
              </a:spcBef>
              <a:spcAft>
                <a:spcPts val="0"/>
              </a:spcAft>
              <a:buClr>
                <a:schemeClr val="dk1"/>
              </a:buClr>
              <a:buSzPts val="1852"/>
              <a:buNone/>
              <a:defRPr sz="1852"/>
            </a:lvl1pPr>
            <a:lvl2pPr marL="914400" lvl="1" indent="-2286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621"/>
              <a:buNone/>
              <a:defRPr sz="1620"/>
            </a:lvl2pPr>
            <a:lvl3pPr marL="1371600" lvl="2" indent="-2286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389"/>
              <a:buNone/>
              <a:defRPr sz="1389"/>
            </a:lvl3pPr>
            <a:lvl4pPr marL="1828800" lvl="3" indent="-2286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158"/>
              <a:buNone/>
              <a:defRPr sz="1158"/>
            </a:lvl4pPr>
            <a:lvl5pPr marL="2286000" lvl="4" indent="-2286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158"/>
              <a:buNone/>
              <a:defRPr sz="1158"/>
            </a:lvl5pPr>
            <a:lvl6pPr marL="2743200" lvl="5" indent="-2286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158"/>
              <a:buNone/>
              <a:defRPr sz="1158"/>
            </a:lvl6pPr>
            <a:lvl7pPr marL="3200400" lvl="6" indent="-2286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158"/>
              <a:buNone/>
              <a:defRPr sz="1158"/>
            </a:lvl7pPr>
            <a:lvl8pPr marL="3657600" lvl="7" indent="-2286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158"/>
              <a:buNone/>
              <a:defRPr sz="1158"/>
            </a:lvl8pPr>
            <a:lvl9pPr marL="4114800" lvl="8" indent="-2286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158"/>
              <a:buNone/>
              <a:defRPr sz="1158"/>
            </a:lvl9pPr>
          </a:lstStyle>
          <a:p>
            <a:endParaRPr/>
          </a:p>
        </p:txBody>
      </p:sp>
      <p:sp>
        <p:nvSpPr>
          <p:cNvPr id="1096" name="Google Shape;1096;p9"/>
          <p:cNvSpPr txBox="1">
            <a:spLocks noGrp="1"/>
          </p:cNvSpPr>
          <p:nvPr>
            <p:ph type="dt" idx="10"/>
          </p:nvPr>
        </p:nvSpPr>
        <p:spPr>
          <a:xfrm>
            <a:off x="735062" y="14013401"/>
            <a:ext cx="24057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7" name="Google Shape;1097;p9"/>
          <p:cNvSpPr txBox="1">
            <a:spLocks noGrp="1"/>
          </p:cNvSpPr>
          <p:nvPr>
            <p:ph type="ftr" idx="11"/>
          </p:nvPr>
        </p:nvSpPr>
        <p:spPr>
          <a:xfrm>
            <a:off x="3541663" y="14013401"/>
            <a:ext cx="36084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8" name="Google Shape;1098;p9"/>
          <p:cNvSpPr txBox="1">
            <a:spLocks noGrp="1"/>
          </p:cNvSpPr>
          <p:nvPr>
            <p:ph type="sldNum" idx="12"/>
          </p:nvPr>
        </p:nvSpPr>
        <p:spPr>
          <a:xfrm>
            <a:off x="7551093" y="14013401"/>
            <a:ext cx="24057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p10"/>
          <p:cNvSpPr txBox="1">
            <a:spLocks noGrp="1"/>
          </p:cNvSpPr>
          <p:nvPr>
            <p:ph type="title"/>
          </p:nvPr>
        </p:nvSpPr>
        <p:spPr>
          <a:xfrm>
            <a:off x="736455" y="1007957"/>
            <a:ext cx="3448500" cy="3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4"/>
              <a:buFont typeface="Calibri"/>
              <a:buNone/>
              <a:defRPr sz="3704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1" name="Google Shape;1101;p10"/>
          <p:cNvSpPr>
            <a:spLocks noGrp="1"/>
          </p:cNvSpPr>
          <p:nvPr>
            <p:ph type="pic" idx="2"/>
          </p:nvPr>
        </p:nvSpPr>
        <p:spPr>
          <a:xfrm>
            <a:off x="4545413" y="2176910"/>
            <a:ext cx="5412600" cy="10744500"/>
          </a:xfrm>
          <a:prstGeom prst="rect">
            <a:avLst/>
          </a:prstGeom>
          <a:noFill/>
          <a:ln>
            <a:noFill/>
          </a:ln>
        </p:spPr>
      </p:sp>
      <p:sp>
        <p:nvSpPr>
          <p:cNvPr id="1102" name="Google Shape;1102;p10"/>
          <p:cNvSpPr txBox="1">
            <a:spLocks noGrp="1"/>
          </p:cNvSpPr>
          <p:nvPr>
            <p:ph type="body" idx="1"/>
          </p:nvPr>
        </p:nvSpPr>
        <p:spPr>
          <a:xfrm>
            <a:off x="736455" y="4535805"/>
            <a:ext cx="3448500" cy="84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158"/>
              </a:spcBef>
              <a:spcAft>
                <a:spcPts val="0"/>
              </a:spcAft>
              <a:buClr>
                <a:schemeClr val="dk1"/>
              </a:buClr>
              <a:buSzPts val="1852"/>
              <a:buNone/>
              <a:defRPr sz="1852"/>
            </a:lvl1pPr>
            <a:lvl2pPr marL="914400" lvl="1" indent="-2286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621"/>
              <a:buNone/>
              <a:defRPr sz="1620"/>
            </a:lvl2pPr>
            <a:lvl3pPr marL="1371600" lvl="2" indent="-2286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389"/>
              <a:buNone/>
              <a:defRPr sz="1389"/>
            </a:lvl3pPr>
            <a:lvl4pPr marL="1828800" lvl="3" indent="-2286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158"/>
              <a:buNone/>
              <a:defRPr sz="1158"/>
            </a:lvl4pPr>
            <a:lvl5pPr marL="2286000" lvl="4" indent="-2286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158"/>
              <a:buNone/>
              <a:defRPr sz="1158"/>
            </a:lvl5pPr>
            <a:lvl6pPr marL="2743200" lvl="5" indent="-2286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158"/>
              <a:buNone/>
              <a:defRPr sz="1158"/>
            </a:lvl6pPr>
            <a:lvl7pPr marL="3200400" lvl="6" indent="-2286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158"/>
              <a:buNone/>
              <a:defRPr sz="1158"/>
            </a:lvl7pPr>
            <a:lvl8pPr marL="3657600" lvl="7" indent="-2286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158"/>
              <a:buNone/>
              <a:defRPr sz="1158"/>
            </a:lvl8pPr>
            <a:lvl9pPr marL="4114800" lvl="8" indent="-2286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158"/>
              <a:buNone/>
              <a:defRPr sz="1158"/>
            </a:lvl9pPr>
          </a:lstStyle>
          <a:p>
            <a:endParaRPr/>
          </a:p>
        </p:txBody>
      </p:sp>
      <p:sp>
        <p:nvSpPr>
          <p:cNvPr id="1103" name="Google Shape;1103;p10"/>
          <p:cNvSpPr txBox="1">
            <a:spLocks noGrp="1"/>
          </p:cNvSpPr>
          <p:nvPr>
            <p:ph type="dt" idx="10"/>
          </p:nvPr>
        </p:nvSpPr>
        <p:spPr>
          <a:xfrm>
            <a:off x="735062" y="14013401"/>
            <a:ext cx="24057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4" name="Google Shape;1104;p10"/>
          <p:cNvSpPr txBox="1">
            <a:spLocks noGrp="1"/>
          </p:cNvSpPr>
          <p:nvPr>
            <p:ph type="ftr" idx="11"/>
          </p:nvPr>
        </p:nvSpPr>
        <p:spPr>
          <a:xfrm>
            <a:off x="3541663" y="14013401"/>
            <a:ext cx="36084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5" name="Google Shape;1105;p10"/>
          <p:cNvSpPr txBox="1">
            <a:spLocks noGrp="1"/>
          </p:cNvSpPr>
          <p:nvPr>
            <p:ph type="sldNum" idx="12"/>
          </p:nvPr>
        </p:nvSpPr>
        <p:spPr>
          <a:xfrm>
            <a:off x="7551093" y="14013401"/>
            <a:ext cx="24057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p11"/>
          <p:cNvSpPr txBox="1">
            <a:spLocks noGrp="1"/>
          </p:cNvSpPr>
          <p:nvPr>
            <p:ph type="title"/>
          </p:nvPr>
        </p:nvSpPr>
        <p:spPr>
          <a:xfrm>
            <a:off x="735062" y="804969"/>
            <a:ext cx="9221700" cy="29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8" name="Google Shape;1108;p11"/>
          <p:cNvSpPr txBox="1">
            <a:spLocks noGrp="1"/>
          </p:cNvSpPr>
          <p:nvPr>
            <p:ph type="body" idx="1"/>
          </p:nvPr>
        </p:nvSpPr>
        <p:spPr>
          <a:xfrm rot="5400000">
            <a:off x="549351" y="4210527"/>
            <a:ext cx="9593100" cy="92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15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09" name="Google Shape;1109;p11"/>
          <p:cNvSpPr txBox="1">
            <a:spLocks noGrp="1"/>
          </p:cNvSpPr>
          <p:nvPr>
            <p:ph type="dt" idx="10"/>
          </p:nvPr>
        </p:nvSpPr>
        <p:spPr>
          <a:xfrm>
            <a:off x="735062" y="14013401"/>
            <a:ext cx="24057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0" name="Google Shape;1110;p11"/>
          <p:cNvSpPr txBox="1">
            <a:spLocks noGrp="1"/>
          </p:cNvSpPr>
          <p:nvPr>
            <p:ph type="ftr" idx="11"/>
          </p:nvPr>
        </p:nvSpPr>
        <p:spPr>
          <a:xfrm>
            <a:off x="3541663" y="14013401"/>
            <a:ext cx="36084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1" name="Google Shape;1111;p11"/>
          <p:cNvSpPr txBox="1">
            <a:spLocks noGrp="1"/>
          </p:cNvSpPr>
          <p:nvPr>
            <p:ph type="sldNum" idx="12"/>
          </p:nvPr>
        </p:nvSpPr>
        <p:spPr>
          <a:xfrm>
            <a:off x="7551093" y="14013401"/>
            <a:ext cx="24057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12"/>
          <p:cNvSpPr txBox="1">
            <a:spLocks noGrp="1"/>
          </p:cNvSpPr>
          <p:nvPr>
            <p:ph type="title"/>
          </p:nvPr>
        </p:nvSpPr>
        <p:spPr>
          <a:xfrm rot="5400000">
            <a:off x="2397501" y="6058715"/>
            <a:ext cx="12813000" cy="23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4" name="Google Shape;1114;p12"/>
          <p:cNvSpPr txBox="1">
            <a:spLocks noGrp="1"/>
          </p:cNvSpPr>
          <p:nvPr>
            <p:ph type="body" idx="1"/>
          </p:nvPr>
        </p:nvSpPr>
        <p:spPr>
          <a:xfrm rot="5400000">
            <a:off x="-2280168" y="3820115"/>
            <a:ext cx="12813000" cy="67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15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15" name="Google Shape;1115;p12"/>
          <p:cNvSpPr txBox="1">
            <a:spLocks noGrp="1"/>
          </p:cNvSpPr>
          <p:nvPr>
            <p:ph type="dt" idx="10"/>
          </p:nvPr>
        </p:nvSpPr>
        <p:spPr>
          <a:xfrm>
            <a:off x="735062" y="14013401"/>
            <a:ext cx="24057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6" name="Google Shape;1116;p12"/>
          <p:cNvSpPr txBox="1">
            <a:spLocks noGrp="1"/>
          </p:cNvSpPr>
          <p:nvPr>
            <p:ph type="ftr" idx="11"/>
          </p:nvPr>
        </p:nvSpPr>
        <p:spPr>
          <a:xfrm>
            <a:off x="3541663" y="14013401"/>
            <a:ext cx="36084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7" name="Google Shape;1117;p12"/>
          <p:cNvSpPr txBox="1">
            <a:spLocks noGrp="1"/>
          </p:cNvSpPr>
          <p:nvPr>
            <p:ph type="sldNum" idx="12"/>
          </p:nvPr>
        </p:nvSpPr>
        <p:spPr>
          <a:xfrm>
            <a:off x="7551093" y="14013401"/>
            <a:ext cx="24057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1"/>
          <p:cNvSpPr txBox="1">
            <a:spLocks noGrp="1"/>
          </p:cNvSpPr>
          <p:nvPr>
            <p:ph type="title"/>
          </p:nvPr>
        </p:nvSpPr>
        <p:spPr>
          <a:xfrm>
            <a:off x="735062" y="804969"/>
            <a:ext cx="9221700" cy="29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93"/>
              <a:buFont typeface="Calibri"/>
              <a:buNone/>
              <a:defRPr sz="509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45" name="Google Shape;1045;p1"/>
          <p:cNvSpPr txBox="1">
            <a:spLocks noGrp="1"/>
          </p:cNvSpPr>
          <p:nvPr>
            <p:ph type="body" idx="1"/>
          </p:nvPr>
        </p:nvSpPr>
        <p:spPr>
          <a:xfrm>
            <a:off x="735062" y="4024827"/>
            <a:ext cx="9221700" cy="95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4403" algn="l" rtl="0">
              <a:lnSpc>
                <a:spcPct val="90000"/>
              </a:lnSpc>
              <a:spcBef>
                <a:spcPts val="1158"/>
              </a:spcBef>
              <a:spcAft>
                <a:spcPts val="0"/>
              </a:spcAft>
              <a:buClr>
                <a:schemeClr val="dk1"/>
              </a:buClr>
              <a:buSzPts val="3241"/>
              <a:buFont typeface="Arial"/>
              <a:buChar char="•"/>
              <a:defRPr sz="324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5003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2778"/>
              <a:buFont typeface="Arial"/>
              <a:buChar char="•"/>
              <a:defRPr sz="277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75602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2315"/>
              <a:buFont typeface="Arial"/>
              <a:buChar char="•"/>
              <a:defRPr sz="23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6087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2083"/>
              <a:buFont typeface="Arial"/>
              <a:buChar char="•"/>
              <a:defRPr sz="208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6087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2083"/>
              <a:buFont typeface="Arial"/>
              <a:buChar char="•"/>
              <a:defRPr sz="208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6087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2083"/>
              <a:buFont typeface="Arial"/>
              <a:buChar char="•"/>
              <a:defRPr sz="208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6087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2083"/>
              <a:buFont typeface="Arial"/>
              <a:buChar char="•"/>
              <a:defRPr sz="208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6087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2083"/>
              <a:buFont typeface="Arial"/>
              <a:buChar char="•"/>
              <a:defRPr sz="208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60870" algn="l" rtl="0">
              <a:lnSpc>
                <a:spcPct val="90000"/>
              </a:lnSpc>
              <a:spcBef>
                <a:spcPts val="579"/>
              </a:spcBef>
              <a:spcAft>
                <a:spcPts val="0"/>
              </a:spcAft>
              <a:buClr>
                <a:schemeClr val="dk1"/>
              </a:buClr>
              <a:buSzPts val="2083"/>
              <a:buFont typeface="Arial"/>
              <a:buChar char="•"/>
              <a:defRPr sz="208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6" name="Google Shape;1046;p1"/>
          <p:cNvSpPr txBox="1">
            <a:spLocks noGrp="1"/>
          </p:cNvSpPr>
          <p:nvPr>
            <p:ph type="dt" idx="10"/>
          </p:nvPr>
        </p:nvSpPr>
        <p:spPr>
          <a:xfrm>
            <a:off x="735062" y="14013401"/>
            <a:ext cx="24057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8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7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7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7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7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7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7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7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7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7" name="Google Shape;1047;p1"/>
          <p:cNvSpPr txBox="1">
            <a:spLocks noGrp="1"/>
          </p:cNvSpPr>
          <p:nvPr>
            <p:ph type="ftr" idx="11"/>
          </p:nvPr>
        </p:nvSpPr>
        <p:spPr>
          <a:xfrm>
            <a:off x="3541663" y="14013401"/>
            <a:ext cx="36084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8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7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7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7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7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7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7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7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7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" name="Google Shape;1048;p1"/>
          <p:cNvSpPr txBox="1">
            <a:spLocks noGrp="1"/>
          </p:cNvSpPr>
          <p:nvPr>
            <p:ph type="sldNum" idx="12"/>
          </p:nvPr>
        </p:nvSpPr>
        <p:spPr>
          <a:xfrm>
            <a:off x="7551093" y="14013401"/>
            <a:ext cx="24057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38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38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38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38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38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38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38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38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389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hariharan.2017@vitstudent.ac.in" TargetMode="External"/><Relationship Id="rId4" Type="http://schemas.openxmlformats.org/officeDocument/2006/relationships/hyperlink" Target="mailto:utkarsh.raj2017@vitstudent.ac.in" TargetMode="External"/><Relationship Id="rId5" Type="http://schemas.openxmlformats.org/officeDocument/2006/relationships/hyperlink" Target="mailto:bhargav.ram2017@vitstudent.ac.in" TargetMode="External"/><Relationship Id="rId6" Type="http://schemas.openxmlformats.org/officeDocument/2006/relationships/image" Target="../media/image1.png"/><Relationship Id="rId7" Type="http://schemas.openxmlformats.org/officeDocument/2006/relationships/image" Target="../media/image2.png"/><Relationship Id="rId8" Type="http://schemas.openxmlformats.org/officeDocument/2006/relationships/image" Target="../media/image3.png"/><Relationship Id="rId9" Type="http://schemas.openxmlformats.org/officeDocument/2006/relationships/image" Target="../media/image4.png"/><Relationship Id="rId10" Type="http://schemas.openxmlformats.org/officeDocument/2006/relationships/image" Target="../media/image5.png"/><Relationship Id="rId11" Type="http://schemas.openxmlformats.org/officeDocument/2006/relationships/image" Target="../media/image6.png"/><Relationship Id="rId12" Type="http://schemas.openxmlformats.org/officeDocument/2006/relationships/image" Target="../media/image7.jpg"/><Relationship Id="rId13" Type="http://schemas.openxmlformats.org/officeDocument/2006/relationships/image" Target="../media/image8.png"/><Relationship Id="rId14" Type="http://schemas.openxmlformats.org/officeDocument/2006/relationships/image" Target="../media/image9.png"/><Relationship Id="rId15" Type="http://schemas.openxmlformats.org/officeDocument/2006/relationships/image" Target="../media/image10.jpg"/><Relationship Id="rId16" Type="http://schemas.openxmlformats.org/officeDocument/2006/relationships/image" Target="../media/image11.jpg"/><Relationship Id="rId17" Type="http://schemas.openxmlformats.org/officeDocument/2006/relationships/image" Target="../media/image12.jpg"/><Relationship Id="rId18" Type="http://schemas.openxmlformats.org/officeDocument/2006/relationships/chart" Target="../charts/chart1.xml"/><Relationship Id="rId19" Type="http://schemas.openxmlformats.org/officeDocument/2006/relationships/image" Target="../media/image13.png"/><Relationship Id="rId20" Type="http://schemas.openxmlformats.org/officeDocument/2006/relationships/image" Target="../media/image14.png"/><Relationship Id="rId21" Type="http://schemas.openxmlformats.org/officeDocument/2006/relationships/image" Target="../media/image15.png"/><Relationship Id="rId2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13"/>
          <p:cNvSpPr/>
          <p:nvPr/>
        </p:nvSpPr>
        <p:spPr>
          <a:xfrm>
            <a:off x="231725" y="181045"/>
            <a:ext cx="10228500" cy="14629800"/>
          </a:xfrm>
          <a:prstGeom prst="rect">
            <a:avLst/>
          </a:prstGeom>
          <a:noFill/>
          <a:ln w="254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26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7" name="Google Shape;1137;p1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59240" y="434483"/>
            <a:ext cx="2277485" cy="793933"/>
          </a:xfrm>
          <a:prstGeom prst="rect">
            <a:avLst/>
          </a:prstGeom>
          <a:noFill/>
          <a:ln>
            <a:noFill/>
          </a:ln>
        </p:spPr>
      </p:pic>
      <p:sp>
        <p:nvSpPr>
          <p:cNvPr id="1138" name="TextBox 1137"/>
          <p:cNvSpPr txBox="1"/>
          <p:nvPr/>
        </p:nvSpPr>
        <p:spPr>
          <a:xfrm>
            <a:off x="2587752" y="228600"/>
            <a:ext cx="7818120" cy="45720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400" b="1" i="0">
                <a:solidFill>
                  <a:srgbClr val="000000"/>
                </a:solidFill>
                <a:latin typeface="Calibri"/>
              </a:rPr>
              <a:t>Picking Floor Digital Twin: Data-Driven Warehouse Slotting</a:t>
            </a:r>
          </a:p>
        </p:txBody>
      </p:sp>
      <p:sp>
        <p:nvSpPr>
          <p:cNvPr id="1139" name="TextBox 1138"/>
          <p:cNvSpPr txBox="1"/>
          <p:nvPr/>
        </p:nvSpPr>
        <p:spPr>
          <a:xfrm>
            <a:off x="2587752" y="658368"/>
            <a:ext cx="7818120" cy="685800"/>
          </a:xfrm>
          <a:prstGeom prst="rect">
            <a:avLst/>
          </a:prstGeom>
          <a:noFill/>
        </p:spPr>
        <p:txBody>
          <a:bodyPr wrap="square" anchor="t" lIns="45720" rIns="45720" tIns="36576" bIns="36576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Calibri"/>
              </a:rPr>
              <a:t>Rohith Krishna A K (25BCE2027) and Jaidev A (25BCE0971)  |  Team GitHappens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100" b="0" i="0">
                <a:solidFill>
                  <a:srgbClr val="000000"/>
                </a:solidFill>
                <a:latin typeface="Calibri"/>
              </a:rPr>
              <a:t>Dr. Jaffino  |  SENSE</a:t>
            </a:r>
          </a:p>
        </p:txBody>
      </p:sp>
      <p:sp>
        <p:nvSpPr>
          <p:cNvPr id="1140" name="TextBox 1139"/>
          <p:cNvSpPr txBox="1"/>
          <p:nvPr/>
        </p:nvSpPr>
        <p:spPr>
          <a:xfrm>
            <a:off x="256032" y="1298448"/>
            <a:ext cx="4937760" cy="329184"/>
          </a:xfrm>
          <a:prstGeom prst="rect">
            <a:avLst/>
          </a:prstGeom>
          <a:noFill/>
        </p:spPr>
        <p:txBody>
          <a:bodyPr wrap="square" anchor="t" lIns="18288" rIns="18288" tIns="36576" bIns="36576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800" b="1" i="0">
                <a:solidFill>
                  <a:srgbClr val="1F3864"/>
                </a:solidFill>
                <a:latin typeface="Calibri"/>
              </a:rPr>
              <a:t>Motivation/ Introduction</a:t>
            </a:r>
          </a:p>
        </p:txBody>
      </p:sp>
      <p:sp>
        <p:nvSpPr>
          <p:cNvPr id="1141" name="TextBox 1140"/>
          <p:cNvSpPr txBox="1"/>
          <p:nvPr/>
        </p:nvSpPr>
        <p:spPr>
          <a:xfrm>
            <a:off x="301752" y="1627632"/>
            <a:ext cx="4919472" cy="1005840"/>
          </a:xfrm>
          <a:prstGeom prst="rect">
            <a:avLst/>
          </a:prstGeom>
          <a:noFill/>
          <a:ln w="15875">
            <a:solidFill>
              <a:srgbClr val="42719B"/>
            </a:solidFill>
          </a:ln>
        </p:spPr>
        <p:txBody>
          <a:bodyPr wrap="square" anchor="t" lIns="64008" rIns="64008" tIns="36576" bIns="36576">
            <a:spAutoFit/>
          </a:bodyPr>
          <a:lstStyle/>
          <a:p>
            <a:pPr algn="just">
              <a:lnSpc>
                <a:spcPct val="92000"/>
              </a:lnSpc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alibri"/>
              </a:rPr>
              <a:t>In a warehouse, an order picker spends more time </a:t>
            </a:r>
            <a:r>
              <a:rPr sz="1200" b="1" i="0">
                <a:solidFill>
                  <a:srgbClr val="000000"/>
                </a:solidFill>
                <a:latin typeface="Calibri"/>
              </a:rPr>
              <a:t>walking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than picking: in our model 79 s of every 150 s order is walking. Where each product sits on the shelves (</a:t>
            </a:r>
            <a:r>
              <a:rPr sz="1200" b="1" i="0">
                <a:solidFill>
                  <a:srgbClr val="000000"/>
                </a:solidFill>
                <a:latin typeface="Calibri"/>
              </a:rPr>
              <a:t>slotting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) decides that distance, yet it is usually set by habit. We built a </a:t>
            </a:r>
            <a:r>
              <a:rPr sz="1200" b="1" i="0">
                <a:solidFill>
                  <a:srgbClr val="000000"/>
                </a:solidFill>
                <a:latin typeface="Calibri"/>
              </a:rPr>
              <a:t>digital twin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of a picking floor that replays real customer orders, so any shelf arrangement can be measured before anyone moves a carton.</a:t>
            </a:r>
          </a:p>
        </p:txBody>
      </p:sp>
      <p:sp>
        <p:nvSpPr>
          <p:cNvPr id="1142" name="TextBox 1141"/>
          <p:cNvSpPr txBox="1"/>
          <p:nvPr/>
        </p:nvSpPr>
        <p:spPr>
          <a:xfrm>
            <a:off x="256032" y="2697480"/>
            <a:ext cx="4937760" cy="329184"/>
          </a:xfrm>
          <a:prstGeom prst="rect">
            <a:avLst/>
          </a:prstGeom>
          <a:noFill/>
        </p:spPr>
        <p:txBody>
          <a:bodyPr wrap="square" anchor="t" lIns="18288" rIns="18288" tIns="36576" bIns="36576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800" b="1" i="0">
                <a:solidFill>
                  <a:srgbClr val="1F3864"/>
                </a:solidFill>
                <a:latin typeface="Calibri"/>
              </a:rPr>
              <a:t>SCOPE of the Project</a:t>
            </a:r>
          </a:p>
        </p:txBody>
      </p:sp>
      <p:sp>
        <p:nvSpPr>
          <p:cNvPr id="1143" name="TextBox 1142"/>
          <p:cNvSpPr txBox="1"/>
          <p:nvPr/>
        </p:nvSpPr>
        <p:spPr>
          <a:xfrm>
            <a:off x="301752" y="3026664"/>
            <a:ext cx="4919472" cy="1417320"/>
          </a:xfrm>
          <a:prstGeom prst="rect">
            <a:avLst/>
          </a:prstGeom>
          <a:noFill/>
          <a:ln w="15875">
            <a:solidFill>
              <a:srgbClr val="42719B"/>
            </a:solidFill>
          </a:ln>
        </p:spPr>
        <p:txBody>
          <a:bodyPr wrap="square" anchor="t" lIns="64008" rIns="64008" tIns="36576" bIns="36576">
            <a:spAutoFit/>
          </a:bodyPr>
          <a:lstStyle/>
          <a:p>
            <a:pPr algn="just">
              <a:lnSpc>
                <a:spcPct val="92000"/>
              </a:lnSpc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alibri"/>
              </a:rPr>
              <a:t>A 100-slot pick zone (5 aisles, racks on both sides) is driven by </a:t>
            </a:r>
            <a:r>
              <a:rPr sz="1200" b="1" i="0">
                <a:solidFill>
                  <a:srgbClr val="000000"/>
                </a:solidFill>
                <a:latin typeface="Calibri"/>
              </a:rPr>
              <a:t>2,293 real orders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from the UCI Online Retail II dataset (Nov 2010). We compare four slotting strategies, batch and smart-batch picking, and a </a:t>
            </a:r>
            <a:r>
              <a:rPr sz="1200" b="1" i="0">
                <a:solidFill>
                  <a:srgbClr val="000000"/>
                </a:solidFill>
                <a:latin typeface="Calibri"/>
              </a:rPr>
              <a:t>team of up to six pickers with aisle congestion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. The twin runs in a browser as a 3D game where users swap racks against an optimizer, and it emits the events real sensors would stream: RFID dock gate, UWB cart tags, pick-to-light modules and barcode scans.</a:t>
            </a:r>
          </a:p>
        </p:txBody>
      </p:sp>
      <p:sp>
        <p:nvSpPr>
          <p:cNvPr id="1144" name="TextBox 1143"/>
          <p:cNvSpPr txBox="1"/>
          <p:nvPr/>
        </p:nvSpPr>
        <p:spPr>
          <a:xfrm>
            <a:off x="256032" y="4507992"/>
            <a:ext cx="4937760" cy="329184"/>
          </a:xfrm>
          <a:prstGeom prst="rect">
            <a:avLst/>
          </a:prstGeom>
          <a:noFill/>
        </p:spPr>
        <p:txBody>
          <a:bodyPr wrap="square" anchor="t" lIns="18288" rIns="18288" tIns="36576" bIns="36576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800" b="1" i="0">
                <a:solidFill>
                  <a:srgbClr val="1F3864"/>
                </a:solidFill>
                <a:latin typeface="Calibri"/>
              </a:rPr>
              <a:t>Methodology</a:t>
            </a:r>
          </a:p>
        </p:txBody>
      </p:sp>
      <p:sp>
        <p:nvSpPr>
          <p:cNvPr id="1145" name="Rounded Rectangle 1144"/>
          <p:cNvSpPr/>
          <p:nvPr/>
        </p:nvSpPr>
        <p:spPr>
          <a:xfrm>
            <a:off x="347472" y="4901184"/>
            <a:ext cx="1088136" cy="658368"/>
          </a:xfrm>
          <a:prstGeom prst="roundRect">
            <a:avLst>
              <a:gd name="adj" fmla="val 12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90000"/>
              </a:lnSpc>
            </a:pPr>
            <a:r>
              <a:rPr sz="900" b="1">
                <a:solidFill>
                  <a:srgbClr val="FFFFFF"/>
                </a:solidFill>
                <a:latin typeface="Calibri"/>
              </a:rPr>
              <a:t>Real orders</a:t>
            </a:r>
          </a:p>
          <a:p>
            <a:pPr algn="ctr">
              <a:lnSpc>
                <a:spcPct val="90000"/>
              </a:lnSpc>
            </a:pPr>
            <a:r>
              <a:rPr sz="800" b="0">
                <a:solidFill>
                  <a:srgbClr val="FFFFFF"/>
                </a:solidFill>
                <a:latin typeface="Calibri"/>
              </a:rPr>
              <a:t>UCI Online Retail II</a:t>
            </a:r>
          </a:p>
          <a:p>
            <a:pPr algn="ctr">
              <a:lnSpc>
                <a:spcPct val="90000"/>
              </a:lnSpc>
            </a:pPr>
            <a:r>
              <a:rPr sz="800" b="0">
                <a:solidFill>
                  <a:srgbClr val="FFFFFF"/>
                </a:solidFill>
                <a:latin typeface="Calibri"/>
              </a:rPr>
              <a:t>76,584 lines</a:t>
            </a:r>
          </a:p>
        </p:txBody>
      </p:sp>
      <p:cxnSp>
        <p:nvCxnSpPr>
          <p:cNvPr id="1146" name="Connector 1145"/>
          <p:cNvCxnSpPr/>
          <p:nvPr/>
        </p:nvCxnSpPr>
        <p:spPr>
          <a:xfrm>
            <a:off x="1453895" y="5230368"/>
            <a:ext cx="146304" cy="0"/>
          </a:xfrm>
          <a:prstGeom prst="line">
            <a:avLst/>
          </a:prstGeom>
          <a:ln w="19050">
            <a:solidFill>
              <a:srgbClr val="1F38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7" name="Rounded Rectangle 1146"/>
          <p:cNvSpPr/>
          <p:nvPr/>
        </p:nvSpPr>
        <p:spPr>
          <a:xfrm>
            <a:off x="1618488" y="4901184"/>
            <a:ext cx="1088136" cy="658368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90000"/>
              </a:lnSpc>
            </a:pPr>
            <a:r>
              <a:rPr sz="900" b="1">
                <a:solidFill>
                  <a:srgbClr val="FFFFFF"/>
                </a:solidFill>
                <a:latin typeface="Calibri"/>
              </a:rPr>
              <a:t>Clean (pandas)</a:t>
            </a:r>
          </a:p>
          <a:p>
            <a:pPr algn="ctr">
              <a:lnSpc>
                <a:spcPct val="90000"/>
              </a:lnSpc>
            </a:pPr>
            <a:r>
              <a:rPr sz="800" b="0">
                <a:solidFill>
                  <a:srgbClr val="FFFFFF"/>
                </a:solidFill>
                <a:latin typeface="Calibri"/>
              </a:rPr>
              <a:t>2,293 orders</a:t>
            </a:r>
          </a:p>
          <a:p>
            <a:pPr algn="ctr">
              <a:lnSpc>
                <a:spcPct val="90000"/>
              </a:lnSpc>
            </a:pPr>
            <a:r>
              <a:rPr sz="800" b="0">
                <a:solidFill>
                  <a:srgbClr val="FFFFFF"/>
                </a:solidFill>
                <a:latin typeface="Calibri"/>
              </a:rPr>
              <a:t>top 100 products</a:t>
            </a:r>
          </a:p>
        </p:txBody>
      </p:sp>
      <p:cxnSp>
        <p:nvCxnSpPr>
          <p:cNvPr id="1148" name="Connector 1147"/>
          <p:cNvCxnSpPr/>
          <p:nvPr/>
        </p:nvCxnSpPr>
        <p:spPr>
          <a:xfrm>
            <a:off x="2724912" y="5230368"/>
            <a:ext cx="146304" cy="0"/>
          </a:xfrm>
          <a:prstGeom prst="line">
            <a:avLst/>
          </a:prstGeom>
          <a:ln w="19050">
            <a:solidFill>
              <a:srgbClr val="1F38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9" name="Rounded Rectangle 1148"/>
          <p:cNvSpPr/>
          <p:nvPr/>
        </p:nvSpPr>
        <p:spPr>
          <a:xfrm>
            <a:off x="2889503" y="4901184"/>
            <a:ext cx="1088136" cy="658368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90000"/>
              </a:lnSpc>
            </a:pPr>
            <a:r>
              <a:rPr sz="900" b="1">
                <a:solidFill>
                  <a:srgbClr val="FFFFFF"/>
                </a:solidFill>
                <a:latin typeface="Calibri"/>
              </a:rPr>
              <a:t>Floor graph</a:t>
            </a:r>
          </a:p>
          <a:p>
            <a:pPr algn="ctr">
              <a:lnSpc>
                <a:spcPct val="90000"/>
              </a:lnSpc>
            </a:pPr>
            <a:r>
              <a:rPr sz="800" b="0">
                <a:solidFill>
                  <a:srgbClr val="FFFFFF"/>
                </a:solidFill>
                <a:latin typeface="Calibri"/>
              </a:rPr>
              <a:t>61 nodes, 64 edges</a:t>
            </a:r>
          </a:p>
          <a:p>
            <a:pPr algn="ctr">
              <a:lnSpc>
                <a:spcPct val="90000"/>
              </a:lnSpc>
            </a:pPr>
            <a:r>
              <a:rPr sz="800" b="0">
                <a:solidFill>
                  <a:srgbClr val="FFFFFF"/>
                </a:solidFill>
                <a:latin typeface="Calibri"/>
              </a:rPr>
              <a:t>Floyd–Warshall</a:t>
            </a:r>
          </a:p>
        </p:txBody>
      </p:sp>
      <p:cxnSp>
        <p:nvCxnSpPr>
          <p:cNvPr id="1150" name="Connector 1149"/>
          <p:cNvCxnSpPr/>
          <p:nvPr/>
        </p:nvCxnSpPr>
        <p:spPr>
          <a:xfrm>
            <a:off x="3995927" y="5230368"/>
            <a:ext cx="146305" cy="0"/>
          </a:xfrm>
          <a:prstGeom prst="line">
            <a:avLst/>
          </a:prstGeom>
          <a:ln w="19050">
            <a:solidFill>
              <a:srgbClr val="1F38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1" name="Rounded Rectangle 1150"/>
          <p:cNvSpPr/>
          <p:nvPr/>
        </p:nvSpPr>
        <p:spPr>
          <a:xfrm>
            <a:off x="4160520" y="4901184"/>
            <a:ext cx="1088136" cy="658368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90000"/>
              </a:lnSpc>
            </a:pPr>
            <a:r>
              <a:rPr sz="900" b="1">
                <a:solidFill>
                  <a:srgbClr val="FFFFFF"/>
                </a:solidFill>
                <a:latin typeface="Calibri"/>
              </a:rPr>
              <a:t>Route each trip</a:t>
            </a:r>
          </a:p>
          <a:p>
            <a:pPr algn="ctr">
              <a:lnSpc>
                <a:spcPct val="90000"/>
              </a:lnSpc>
            </a:pPr>
            <a:r>
              <a:rPr sz="800" b="0">
                <a:solidFill>
                  <a:srgbClr val="FFFFFF"/>
                </a:solidFill>
                <a:latin typeface="Calibri"/>
              </a:rPr>
              <a:t>nearest neighbour</a:t>
            </a:r>
          </a:p>
          <a:p>
            <a:pPr algn="ctr">
              <a:lnSpc>
                <a:spcPct val="90000"/>
              </a:lnSpc>
            </a:pPr>
            <a:r>
              <a:rPr sz="800" b="0">
                <a:solidFill>
                  <a:srgbClr val="FFFFFF"/>
                </a:solidFill>
                <a:latin typeface="Calibri"/>
              </a:rPr>
              <a:t>+ 2-opt</a:t>
            </a:r>
          </a:p>
        </p:txBody>
      </p:sp>
      <p:sp>
        <p:nvSpPr>
          <p:cNvPr id="1152" name="Rounded Rectangle 1151"/>
          <p:cNvSpPr/>
          <p:nvPr/>
        </p:nvSpPr>
        <p:spPr>
          <a:xfrm>
            <a:off x="347472" y="5870448"/>
            <a:ext cx="1088136" cy="658368"/>
          </a:xfrm>
          <a:prstGeom prst="roundRect">
            <a:avLst>
              <a:gd name="adj" fmla="val 12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90000"/>
              </a:lnSpc>
            </a:pPr>
            <a:r>
              <a:rPr sz="900" b="1">
                <a:solidFill>
                  <a:srgbClr val="FFFFFF"/>
                </a:solidFill>
                <a:latin typeface="Calibri"/>
              </a:rPr>
              <a:t>IoT event stream</a:t>
            </a:r>
          </a:p>
          <a:p>
            <a:pPr algn="ctr">
              <a:lnSpc>
                <a:spcPct val="90000"/>
              </a:lnSpc>
            </a:pPr>
            <a:r>
              <a:rPr sz="800" b="0">
                <a:solidFill>
                  <a:srgbClr val="FFFFFF"/>
                </a:solidFill>
                <a:latin typeface="Calibri"/>
              </a:rPr>
              <a:t>RFID · UWB · PTL</a:t>
            </a:r>
          </a:p>
          <a:p>
            <a:pPr algn="ctr">
              <a:lnSpc>
                <a:spcPct val="90000"/>
              </a:lnSpc>
            </a:pPr>
            <a:r>
              <a:rPr sz="800" b="0">
                <a:solidFill>
                  <a:srgbClr val="FFFFFF"/>
                </a:solidFill>
                <a:latin typeface="Calibri"/>
              </a:rPr>
              <a:t>barcode, JSONL</a:t>
            </a:r>
          </a:p>
        </p:txBody>
      </p:sp>
      <p:cxnSp>
        <p:nvCxnSpPr>
          <p:cNvPr id="1153" name="Connector 1152"/>
          <p:cNvCxnSpPr/>
          <p:nvPr/>
        </p:nvCxnSpPr>
        <p:spPr>
          <a:xfrm flipH="1">
            <a:off x="1453895" y="6199632"/>
            <a:ext cx="146304" cy="0"/>
          </a:xfrm>
          <a:prstGeom prst="line">
            <a:avLst/>
          </a:prstGeom>
          <a:ln w="19050">
            <a:solidFill>
              <a:srgbClr val="1F38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4" name="Rounded Rectangle 1153"/>
          <p:cNvSpPr/>
          <p:nvPr/>
        </p:nvSpPr>
        <p:spPr>
          <a:xfrm>
            <a:off x="1618488" y="5870448"/>
            <a:ext cx="1088136" cy="658368"/>
          </a:xfrm>
          <a:prstGeom prst="roundRect">
            <a:avLst>
              <a:gd name="adj" fmla="val 12000"/>
            </a:avLst>
          </a:prstGeom>
          <a:solidFill>
            <a:srgbClr val="2340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90000"/>
              </a:lnSpc>
            </a:pPr>
            <a:r>
              <a:rPr sz="900" b="1">
                <a:solidFill>
                  <a:srgbClr val="FFFFFF"/>
                </a:solidFill>
                <a:latin typeface="Calibri"/>
              </a:rPr>
              <a:t>3D twin + game</a:t>
            </a:r>
          </a:p>
          <a:p>
            <a:pPr algn="ctr">
              <a:lnSpc>
                <a:spcPct val="90000"/>
              </a:lnSpc>
            </a:pPr>
            <a:r>
              <a:rPr sz="800" b="0">
                <a:solidFill>
                  <a:srgbClr val="FFFFFF"/>
                </a:solidFill>
                <a:latin typeface="Calibri"/>
              </a:rPr>
              <a:t>Three.js, Web Worker</a:t>
            </a:r>
          </a:p>
          <a:p>
            <a:pPr algn="ctr">
              <a:lnSpc>
                <a:spcPct val="90000"/>
              </a:lnSpc>
            </a:pPr>
            <a:r>
              <a:rPr sz="800" b="0">
                <a:solidFill>
                  <a:srgbClr val="FFFFFF"/>
                </a:solidFill>
                <a:latin typeface="Calibri"/>
              </a:rPr>
              <a:t>Blender-baked floor</a:t>
            </a:r>
          </a:p>
        </p:txBody>
      </p:sp>
      <p:cxnSp>
        <p:nvCxnSpPr>
          <p:cNvPr id="1155" name="Connector 1154"/>
          <p:cNvCxnSpPr/>
          <p:nvPr/>
        </p:nvCxnSpPr>
        <p:spPr>
          <a:xfrm flipH="1">
            <a:off x="2724912" y="6199632"/>
            <a:ext cx="146304" cy="0"/>
          </a:xfrm>
          <a:prstGeom prst="line">
            <a:avLst/>
          </a:prstGeom>
          <a:ln w="19050">
            <a:solidFill>
              <a:srgbClr val="1F38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6" name="Rounded Rectangle 1155"/>
          <p:cNvSpPr/>
          <p:nvPr/>
        </p:nvSpPr>
        <p:spPr>
          <a:xfrm>
            <a:off x="2889503" y="5870448"/>
            <a:ext cx="1088136" cy="658368"/>
          </a:xfrm>
          <a:prstGeom prst="roundRect">
            <a:avLst>
              <a:gd name="adj" fmla="val 12000"/>
            </a:avLst>
          </a:prstGeom>
          <a:solidFill>
            <a:srgbClr val="E04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90000"/>
              </a:lnSpc>
            </a:pPr>
            <a:r>
              <a:rPr sz="900" b="1">
                <a:solidFill>
                  <a:srgbClr val="FFFFFF"/>
                </a:solidFill>
                <a:latin typeface="Calibri"/>
              </a:rPr>
              <a:t>Team of pickers</a:t>
            </a:r>
          </a:p>
          <a:p>
            <a:pPr algn="ctr">
              <a:lnSpc>
                <a:spcPct val="90000"/>
              </a:lnSpc>
            </a:pPr>
            <a:r>
              <a:rPr sz="800" b="0">
                <a:solidFill>
                  <a:srgbClr val="FFFFFF"/>
                </a:solidFill>
                <a:latin typeface="Calibri"/>
              </a:rPr>
              <a:t>aisle capacity</a:t>
            </a:r>
          </a:p>
          <a:p>
            <a:pPr algn="ctr">
              <a:lnSpc>
                <a:spcPct val="90000"/>
              </a:lnSpc>
            </a:pPr>
            <a:r>
              <a:rPr sz="800" b="0">
                <a:solidFill>
                  <a:srgbClr val="FFFFFF"/>
                </a:solidFill>
                <a:latin typeface="Calibri"/>
              </a:rPr>
              <a:t>queueing sim</a:t>
            </a:r>
          </a:p>
        </p:txBody>
      </p:sp>
      <p:cxnSp>
        <p:nvCxnSpPr>
          <p:cNvPr id="1157" name="Connector 1156"/>
          <p:cNvCxnSpPr/>
          <p:nvPr/>
        </p:nvCxnSpPr>
        <p:spPr>
          <a:xfrm flipH="1">
            <a:off x="3995927" y="6199632"/>
            <a:ext cx="146305" cy="0"/>
          </a:xfrm>
          <a:prstGeom prst="line">
            <a:avLst/>
          </a:prstGeom>
          <a:ln w="19050">
            <a:solidFill>
              <a:srgbClr val="1F38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8" name="Rounded Rectangle 1157"/>
          <p:cNvSpPr/>
          <p:nvPr/>
        </p:nvSpPr>
        <p:spPr>
          <a:xfrm>
            <a:off x="4160520" y="5870448"/>
            <a:ext cx="1088136" cy="658368"/>
          </a:xfrm>
          <a:prstGeom prst="roundRect">
            <a:avLst>
              <a:gd name="adj" fmla="val 12000"/>
            </a:avLst>
          </a:prstGeom>
          <a:solidFill>
            <a:srgbClr val="E04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90000"/>
              </a:lnSpc>
            </a:pPr>
            <a:r>
              <a:rPr sz="900" b="1">
                <a:solidFill>
                  <a:srgbClr val="FFFFFF"/>
                </a:solidFill>
                <a:latin typeface="Calibri"/>
              </a:rPr>
              <a:t>Slotting</a:t>
            </a:r>
          </a:p>
          <a:p>
            <a:pPr algn="ctr">
              <a:lnSpc>
                <a:spcPct val="90000"/>
              </a:lnSpc>
            </a:pPr>
            <a:r>
              <a:rPr sz="800" b="0">
                <a:solidFill>
                  <a:srgbClr val="FFFFFF"/>
                </a:solidFill>
                <a:latin typeface="Calibri"/>
              </a:rPr>
              <a:t>ABC · Affinity</a:t>
            </a:r>
          </a:p>
          <a:p>
            <a:pPr algn="ctr">
              <a:lnSpc>
                <a:spcPct val="90000"/>
              </a:lnSpc>
            </a:pPr>
            <a:r>
              <a:rPr sz="800" b="0">
                <a:solidFill>
                  <a:srgbClr val="FFFFFF"/>
                </a:solidFill>
                <a:latin typeface="Calibri"/>
              </a:rPr>
              <a:t>simulated annealing</a:t>
            </a:r>
          </a:p>
        </p:txBody>
      </p:sp>
      <p:cxnSp>
        <p:nvCxnSpPr>
          <p:cNvPr id="1159" name="Connector 1158"/>
          <p:cNvCxnSpPr/>
          <p:nvPr/>
        </p:nvCxnSpPr>
        <p:spPr>
          <a:xfrm>
            <a:off x="4704588" y="5577840"/>
            <a:ext cx="0" cy="274320"/>
          </a:xfrm>
          <a:prstGeom prst="line">
            <a:avLst/>
          </a:prstGeom>
          <a:ln w="19050">
            <a:solidFill>
              <a:srgbClr val="1F386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0" name="TextBox 1159"/>
          <p:cNvSpPr txBox="1"/>
          <p:nvPr/>
        </p:nvSpPr>
        <p:spPr>
          <a:xfrm>
            <a:off x="301752" y="6556248"/>
            <a:ext cx="4919472" cy="228600"/>
          </a:xfrm>
          <a:prstGeom prst="rect">
            <a:avLst/>
          </a:prstGeom>
          <a:noFill/>
        </p:spPr>
        <p:txBody>
          <a:bodyPr wrap="square" anchor="t" lIns="18288" rIns="18288" tIns="36576" bIns="36576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alibri"/>
              </a:rPr>
              <a:t>Fig. 1  System pipeline: one simulation core, used offline (Node) and live (browser).</a:t>
            </a:r>
          </a:p>
        </p:txBody>
      </p:sp>
      <p:sp>
        <p:nvSpPr>
          <p:cNvPr id="1161" name="TextBox 1160"/>
          <p:cNvSpPr txBox="1"/>
          <p:nvPr/>
        </p:nvSpPr>
        <p:spPr>
          <a:xfrm>
            <a:off x="301752" y="6830568"/>
            <a:ext cx="4919472" cy="4773168"/>
          </a:xfrm>
          <a:prstGeom prst="rect">
            <a:avLst/>
          </a:prstGeom>
          <a:noFill/>
          <a:ln w="15875">
            <a:solidFill>
              <a:srgbClr val="42719B"/>
            </a:solidFill>
          </a:ln>
        </p:spPr>
        <p:txBody>
          <a:bodyPr wrap="square" anchor="t" lIns="64008" rIns="64008" tIns="36576" bIns="36576">
            <a:spAutoFit/>
          </a:bodyPr>
          <a:lstStyle/>
          <a:p>
            <a:pPr algn="just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000000"/>
                </a:solidFill>
                <a:latin typeface="Calibri"/>
              </a:rPr>
              <a:t>a)  Data. </a:t>
            </a:r>
            <a:r>
              <a:rPr sz="1150" b="0" i="0">
                <a:solidFill>
                  <a:srgbClr val="000000"/>
                </a:solidFill>
                <a:latin typeface="Calibri"/>
              </a:rPr>
              <a:t>Cancelled invoices, postage/fee codes and invalid rows are removed (76,584 → 74,757 lines). The top 100 products by pick lines (3% of the range, 22% of picks) fill the 100 slots; 2,293 orders remain, 7.1 lines each.</a:t>
            </a:r>
          </a:p>
          <a:p>
            <a:pPr algn="just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000000"/>
                </a:solidFill>
                <a:latin typeface="Calibri"/>
              </a:rPr>
              <a:t>b)  Floor and routing. </a:t>
            </a:r>
            <a:r>
              <a:rPr sz="1150" b="0" i="0">
                <a:solidFill>
                  <a:srgbClr val="000000"/>
                </a:solidFill>
                <a:latin typeface="Calibri"/>
              </a:rPr>
              <a:t>The floor is a graph whose edges follow aisles, so no route can cut through a rack. Floyd–Warshall gives all shortest paths; each trip (dock → picks → dock) is ordered by nearest neighbour and improved by 2-opt. Walking 1.2 m/s, 10 s per order line.</a:t>
            </a:r>
          </a:p>
          <a:p>
            <a:pPr algn="just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000000"/>
                </a:solidFill>
                <a:latin typeface="Calibri"/>
              </a:rPr>
              <a:t>c)  Slotting. </a:t>
            </a:r>
            <a:r>
              <a:rPr sz="1150" b="0" i="0">
                <a:solidFill>
                  <a:srgbClr val="000000"/>
                </a:solidFill>
                <a:latin typeface="Calibri"/>
              </a:rPr>
              <a:t>Original (stock-code order); ABC (most-picked nearest the dock); Affinity (slot score = picks + w × co-orders with products already in that aisle); Optimized (simulated annealing over slot swaps, 80,000 iterations, accepting a worse swap with probability </a:t>
            </a:r>
            <a:r>
              <a:rPr sz="1150" b="1" i="1">
                <a:solidFill>
                  <a:srgbClr val="000000"/>
                </a:solidFill>
                <a:latin typeface="Calibri"/>
              </a:rPr>
              <a:t>P = e^(−Δd / T)</a:t>
            </a:r>
            <a:r>
              <a:rPr sz="1150" b="0" i="0">
                <a:solidFill>
                  <a:srgbClr val="000000"/>
                </a:solidFill>
                <a:latin typeface="Calibri"/>
              </a:rPr>
              <a:t>; only orders touching the two swapped products are re-routed).</a:t>
            </a:r>
          </a:p>
          <a:p>
            <a:pPr algn="just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000000"/>
                </a:solidFill>
                <a:latin typeface="Calibri"/>
              </a:rPr>
              <a:t>d)  Team of pickers. </a:t>
            </a:r>
            <a:r>
              <a:rPr sz="1150" b="0" i="0">
                <a:solidFill>
                  <a:srgbClr val="000000"/>
                </a:solidFill>
                <a:latin typeface="Calibri"/>
              </a:rPr>
              <a:t>N pickers (1–6) clear the month's backlog from one queue. An aisle holds at most c carts (narrow: c = 1, wide: c = 2); a picker reaching a full aisle waits at its entrance. Time-stepped (0.5 s) and deterministic, so the browser and Node give identical results. Congestion loss = 1 − throughput / (N × single-picker throughput).</a:t>
            </a:r>
          </a:p>
          <a:p>
            <a:pPr algn="just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000000"/>
                </a:solidFill>
                <a:latin typeface="Calibri"/>
              </a:rPr>
              <a:t>e)  Validation. </a:t>
            </a:r>
            <a:r>
              <a:rPr sz="1150" b="0" i="0">
                <a:solidFill>
                  <a:srgbClr val="000000"/>
                </a:solidFill>
                <a:latin typeface="Calibri"/>
              </a:rPr>
              <a:t>Layouts were also built from orders before 22 Nov only and tested on the 766 orders of the final week.</a:t>
            </a:r>
          </a:p>
          <a:p>
            <a:pPr algn="just">
              <a:lnSpc>
                <a:spcPct val="92000"/>
              </a:lnSpc>
              <a:spcAft>
                <a:spcPts val="300"/>
              </a:spcAft>
            </a:pPr>
            <a:r>
              <a:rPr sz="1150" b="1" i="0">
                <a:solidFill>
                  <a:srgbClr val="000000"/>
                </a:solidFill>
                <a:latin typeface="Calibri"/>
              </a:rPr>
              <a:t>f)  IoT layer. </a:t>
            </a:r>
            <a:r>
              <a:rPr sz="1150" b="0" i="0">
                <a:solidFill>
                  <a:srgbClr val="000000"/>
                </a:solidFill>
                <a:latin typeface="Calibri"/>
              </a:rPr>
              <a:t>Every replay emits the events real devices would publish: RFID gate at the dock (cart out/in), UWB tag position at every aisle node, pick-to-light ON/OFF per slot, barcode pick confirmation and aisle-blocked alerts, exported as JSON Lines. An ESP32 publishing the same messages (e.g. over MQTT) could replace the replay feed.</a:t>
            </a:r>
          </a:p>
        </p:txBody>
      </p:sp>
      <p:pic>
        <p:nvPicPr>
          <p:cNvPr id="1162" name="Picture 1161" descr="app_team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01752" y="11722608"/>
            <a:ext cx="4919472" cy="2767203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163" name="TextBox 1162"/>
          <p:cNvSpPr txBox="1"/>
          <p:nvPr/>
        </p:nvSpPr>
        <p:spPr>
          <a:xfrm>
            <a:off x="301752" y="14502384"/>
            <a:ext cx="4919472" cy="228600"/>
          </a:xfrm>
          <a:prstGeom prst="rect">
            <a:avLst/>
          </a:prstGeom>
          <a:noFill/>
        </p:spPr>
        <p:txBody>
          <a:bodyPr wrap="square" anchor="t" lIns="18288" rIns="18288" tIns="36576" bIns="36576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alibri"/>
              </a:rPr>
              <a:t>Fig. 5  3D twin in team mode: two of four pickers queue at a full aisle.</a:t>
            </a:r>
          </a:p>
        </p:txBody>
      </p:sp>
      <p:sp>
        <p:nvSpPr>
          <p:cNvPr id="1164" name="TextBox 1163"/>
          <p:cNvSpPr txBox="1"/>
          <p:nvPr/>
        </p:nvSpPr>
        <p:spPr>
          <a:xfrm>
            <a:off x="5394960" y="1298448"/>
            <a:ext cx="4937760" cy="329184"/>
          </a:xfrm>
          <a:prstGeom prst="rect">
            <a:avLst/>
          </a:prstGeom>
          <a:noFill/>
        </p:spPr>
        <p:txBody>
          <a:bodyPr wrap="square" anchor="t" lIns="18288" rIns="18288" tIns="36576" bIns="36576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800" b="1" i="0">
                <a:solidFill>
                  <a:srgbClr val="1F3864"/>
                </a:solidFill>
                <a:latin typeface="Calibri"/>
              </a:rPr>
              <a:t>Results</a:t>
            </a:r>
          </a:p>
        </p:txBody>
      </p:sp>
      <p:pic>
        <p:nvPicPr>
          <p:cNvPr id="1165" name="Picture 1164" descr="route_original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440680" y="1664208"/>
            <a:ext cx="2414016" cy="150876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pic>
        <p:nvPicPr>
          <p:cNvPr id="1166" name="Picture 1165" descr="route_optimized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946136" y="1664208"/>
            <a:ext cx="2414016" cy="150876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167" name="TextBox 1166"/>
          <p:cNvSpPr txBox="1"/>
          <p:nvPr/>
        </p:nvSpPr>
        <p:spPr>
          <a:xfrm>
            <a:off x="5440680" y="3191256"/>
            <a:ext cx="4919472" cy="228600"/>
          </a:xfrm>
          <a:prstGeom prst="rect">
            <a:avLst/>
          </a:prstGeom>
          <a:noFill/>
        </p:spPr>
        <p:txBody>
          <a:bodyPr wrap="square" anchor="t" lIns="18288" rIns="18288" tIns="36576" bIns="36576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alibri"/>
              </a:rPr>
              <a:t>Fig. 2  One real order (invoice 532964, 9 lines): 143 m through 5 aisles on Original (left) vs 62 m through 2 on Optimized.</a:t>
            </a:r>
          </a:p>
        </p:txBody>
      </p:sp>
      <p:graphicFrame>
        <p:nvGraphicFramePr>
          <p:cNvPr id="1168" name="Table 1167"/>
          <p:cNvGraphicFramePr>
            <a:graphicFrameLocks noGrp="1"/>
          </p:cNvGraphicFramePr>
          <p:nvPr/>
        </p:nvGraphicFramePr>
        <p:xfrm>
          <a:off x="5440680" y="3547872"/>
          <a:ext cx="4919472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777240"/>
                <a:gridCol w="777240"/>
                <a:gridCol w="868680"/>
                <a:gridCol w="758952"/>
              </a:tblGrid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Layout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km / month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 / order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Walking saved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Unseen week</a:t>
                      </a:r>
                    </a:p>
                  </a:txBody>
                  <a:tcPr marL="45720" marR="45720" marT="9144" marB="9144">
                    <a:solidFill>
                      <a:srgbClr val="1F3864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Original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218.1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95.1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ABC (intuition)</a:t>
                      </a:r>
                    </a:p>
                  </a:txBody>
                  <a:tcPr marL="45720" marR="45720" marT="9144" marB="9144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212.7</a:t>
                      </a:r>
                    </a:p>
                  </a:txBody>
                  <a:tcPr marL="45720" marR="45720" marT="9144" marB="9144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92.8</a:t>
                      </a:r>
                    </a:p>
                  </a:txBody>
                  <a:tcPr marL="45720" marR="45720" marT="9144" marB="9144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2.5%</a:t>
                      </a:r>
                    </a:p>
                  </a:txBody>
                  <a:tcPr marL="45720" marR="45720" marT="9144" marB="9144"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1.9%</a:t>
                      </a:r>
                    </a:p>
                  </a:txBody>
                  <a:tcPr marL="45720" marR="45720" marT="9144" marB="9144">
                    <a:solidFill>
                      <a:srgbClr val="EEF2F8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Affinity (data)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193.4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84.3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11.3%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11.2%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Optimized (SA)</a:t>
                      </a:r>
                    </a:p>
                  </a:txBody>
                  <a:tcPr marL="45720" marR="45720" marT="9144" marB="9144">
                    <a:solidFill>
                      <a:srgbClr val="FBE3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183.7</a:t>
                      </a:r>
                    </a:p>
                  </a:txBody>
                  <a:tcPr marL="45720" marR="45720" marT="9144" marB="9144">
                    <a:solidFill>
                      <a:srgbClr val="FBE3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80.1</a:t>
                      </a:r>
                    </a:p>
                  </a:txBody>
                  <a:tcPr marL="45720" marR="45720" marT="9144" marB="9144">
                    <a:solidFill>
                      <a:srgbClr val="FBE3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15.8%</a:t>
                      </a:r>
                    </a:p>
                  </a:txBody>
                  <a:tcPr marL="45720" marR="45720" marT="9144" marB="9144">
                    <a:solidFill>
                      <a:srgbClr val="FBE3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Calibri"/>
                        </a:rPr>
                        <a:t>13.9%</a:t>
                      </a:r>
                    </a:p>
                  </a:txBody>
                  <a:tcPr marL="45720" marR="45720" marT="9144" marB="9144">
                    <a:solidFill>
                      <a:srgbClr val="FBE3DE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Smart batch + Optimized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70.1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30.6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67.9%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69" name="TextBox 1168"/>
          <p:cNvSpPr txBox="1"/>
          <p:nvPr/>
        </p:nvSpPr>
        <p:spPr>
          <a:xfrm>
            <a:off x="5440680" y="4892040"/>
            <a:ext cx="4919472" cy="228600"/>
          </a:xfrm>
          <a:prstGeom prst="rect">
            <a:avLst/>
          </a:prstGeom>
          <a:noFill/>
        </p:spPr>
        <p:txBody>
          <a:bodyPr wrap="square" anchor="t" lIns="18288" rIns="18288" tIns="36576" bIns="36576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alibri"/>
              </a:rPr>
              <a:t>Table 1  Same 2,293 orders on every layout, one picker. Unseen week: layouts built before 22 Nov, tested on the last 766 orders.</a:t>
            </a:r>
          </a:p>
        </p:txBody>
      </p:sp>
      <p:graphicFrame>
        <p:nvGraphicFramePr>
          <p:cNvPr id="1170" name="Chart 1169"/>
          <p:cNvGraphicFramePr>
            <a:graphicFrameLocks noGrp="1"/>
          </p:cNvGraphicFramePr>
          <p:nvPr/>
        </p:nvGraphicFramePr>
        <p:xfrm>
          <a:off x="5440680" y="5257800"/>
          <a:ext cx="3063240" cy="2057400"/>
        </p:xfrm>
        <a:graphic>
          <a:graphicData uri="http://schemas.openxmlformats.org/drawingml/2006/chart">
            <c:chart xmlns:c="http://schemas.openxmlformats.org/drawingml/2006/chart" r:id="rId18"/>
          </a:graphicData>
        </a:graphic>
      </p:graphicFrame>
      <p:sp>
        <p:nvSpPr>
          <p:cNvPr id="1171" name="TextBox 1170"/>
          <p:cNvSpPr txBox="1"/>
          <p:nvPr/>
        </p:nvSpPr>
        <p:spPr>
          <a:xfrm>
            <a:off x="8567928" y="5303520"/>
            <a:ext cx="1792224" cy="2011680"/>
          </a:xfrm>
          <a:prstGeom prst="rect">
            <a:avLst/>
          </a:prstGeom>
          <a:noFill/>
        </p:spPr>
        <p:txBody>
          <a:bodyPr wrap="square" anchor="t" lIns="64008" rIns="64008" tIns="36576" bIns="36576">
            <a:spAutoFit/>
          </a:bodyPr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050" b="1" i="0">
                <a:solidFill>
                  <a:srgbClr val="000000"/>
                </a:solidFill>
                <a:latin typeface="Calibri"/>
              </a:rPr>
              <a:t>4 pickers, narrow aisles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050" b="0" i="0">
                <a:solidFill>
                  <a:srgbClr val="000000"/>
                </a:solidFill>
                <a:latin typeface="Calibri"/>
              </a:rPr>
              <a:t>23% of team capacity lost; pickers wait 23% of the time.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050" b="1" i="0">
                <a:solidFill>
                  <a:srgbClr val="000000"/>
                </a:solidFill>
                <a:latin typeface="Calibri"/>
              </a:rPr>
              <a:t>6 pickers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050" b="0" i="0">
                <a:solidFill>
                  <a:srgbClr val="000000"/>
                </a:solidFill>
                <a:latin typeface="Calibri"/>
              </a:rPr>
              <a:t>month cleared in 22.6 h (narrow) vs 15.7 h (wide aisles).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050" b="1" i="0">
                <a:solidFill>
                  <a:srgbClr val="000000"/>
                </a:solidFill>
                <a:latin typeface="Calibri"/>
              </a:rPr>
              <a:t>Slotting vs congestion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050" b="0" i="0">
                <a:solidFill>
                  <a:srgbClr val="000000"/>
                </a:solidFill>
                <a:latin typeface="Calibri"/>
              </a:rPr>
              <a:t>Optimized beats Original by +9% with 1 picker, +5% with 6.</a:t>
            </a:r>
          </a:p>
        </p:txBody>
      </p:sp>
      <p:sp>
        <p:nvSpPr>
          <p:cNvPr id="1172" name="TextBox 1171"/>
          <p:cNvSpPr txBox="1"/>
          <p:nvPr/>
        </p:nvSpPr>
        <p:spPr>
          <a:xfrm>
            <a:off x="5440680" y="7333488"/>
            <a:ext cx="4919472" cy="228600"/>
          </a:xfrm>
          <a:prstGeom prst="rect">
            <a:avLst/>
          </a:prstGeom>
          <a:noFill/>
        </p:spPr>
        <p:txBody>
          <a:bodyPr wrap="square" anchor="t" lIns="18288" rIns="18288" tIns="36576" bIns="36576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alibri"/>
              </a:rPr>
              <a:t>Fig. 3  Throughput vs team size on the Optimized layout.</a:t>
            </a:r>
          </a:p>
        </p:txBody>
      </p:sp>
      <p:pic>
        <p:nvPicPr>
          <p:cNvPr id="1173" name="Picture 1172" descr="plan_original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495544" y="7699248"/>
            <a:ext cx="1051560" cy="1082055"/>
          </a:xfrm>
          <a:prstGeom prst="rect">
            <a:avLst/>
          </a:prstGeom>
        </p:spPr>
      </p:pic>
      <p:sp>
        <p:nvSpPr>
          <p:cNvPr id="1174" name="TextBox 1173"/>
          <p:cNvSpPr txBox="1"/>
          <p:nvPr/>
        </p:nvSpPr>
        <p:spPr>
          <a:xfrm>
            <a:off x="5440680" y="8791498"/>
            <a:ext cx="1161288" cy="201168"/>
          </a:xfrm>
          <a:prstGeom prst="rect">
            <a:avLst/>
          </a:prstGeom>
          <a:noFill/>
        </p:spPr>
        <p:txBody>
          <a:bodyPr wrap="square" anchor="t" lIns="0" rIns="0" tIns="36576" bIns="36576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alibri"/>
              </a:rPr>
              <a:t>Original 218.1 km</a:t>
            </a:r>
          </a:p>
        </p:txBody>
      </p:sp>
      <p:pic>
        <p:nvPicPr>
          <p:cNvPr id="1175" name="Picture 1174" descr="plan_abc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748272" y="7699248"/>
            <a:ext cx="1051560" cy="1082055"/>
          </a:xfrm>
          <a:prstGeom prst="rect">
            <a:avLst/>
          </a:prstGeom>
        </p:spPr>
      </p:pic>
      <p:sp>
        <p:nvSpPr>
          <p:cNvPr id="1176" name="TextBox 1175"/>
          <p:cNvSpPr txBox="1"/>
          <p:nvPr/>
        </p:nvSpPr>
        <p:spPr>
          <a:xfrm>
            <a:off x="6693408" y="8791498"/>
            <a:ext cx="1161288" cy="201168"/>
          </a:xfrm>
          <a:prstGeom prst="rect">
            <a:avLst/>
          </a:prstGeom>
          <a:noFill/>
        </p:spPr>
        <p:txBody>
          <a:bodyPr wrap="square" anchor="t" lIns="0" rIns="0" tIns="36576" bIns="36576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alibri"/>
              </a:rPr>
              <a:t>ABC −2.5%</a:t>
            </a:r>
          </a:p>
        </p:txBody>
      </p:sp>
      <p:pic>
        <p:nvPicPr>
          <p:cNvPr id="1177" name="Picture 1176" descr="plan_affinity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001000" y="7699248"/>
            <a:ext cx="1051560" cy="1082055"/>
          </a:xfrm>
          <a:prstGeom prst="rect">
            <a:avLst/>
          </a:prstGeom>
        </p:spPr>
      </p:pic>
      <p:sp>
        <p:nvSpPr>
          <p:cNvPr id="1178" name="TextBox 1177"/>
          <p:cNvSpPr txBox="1"/>
          <p:nvPr/>
        </p:nvSpPr>
        <p:spPr>
          <a:xfrm>
            <a:off x="7946136" y="8791498"/>
            <a:ext cx="1161288" cy="201168"/>
          </a:xfrm>
          <a:prstGeom prst="rect">
            <a:avLst/>
          </a:prstGeom>
          <a:noFill/>
        </p:spPr>
        <p:txBody>
          <a:bodyPr wrap="square" anchor="t" lIns="0" rIns="0" tIns="36576" bIns="36576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900" b="0" i="0">
                <a:solidFill>
                  <a:srgbClr val="000000"/>
                </a:solidFill>
                <a:latin typeface="Calibri"/>
              </a:rPr>
              <a:t>Affinity −11.3%</a:t>
            </a:r>
          </a:p>
        </p:txBody>
      </p:sp>
      <p:pic>
        <p:nvPicPr>
          <p:cNvPr id="1179" name="Picture 1178" descr="plan_optimiz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253728" y="7699248"/>
            <a:ext cx="1051560" cy="1082055"/>
          </a:xfrm>
          <a:prstGeom prst="rect">
            <a:avLst/>
          </a:prstGeom>
        </p:spPr>
      </p:pic>
      <p:sp>
        <p:nvSpPr>
          <p:cNvPr id="1180" name="TextBox 1179"/>
          <p:cNvSpPr txBox="1"/>
          <p:nvPr/>
        </p:nvSpPr>
        <p:spPr>
          <a:xfrm>
            <a:off x="9198864" y="8791498"/>
            <a:ext cx="1161288" cy="201168"/>
          </a:xfrm>
          <a:prstGeom prst="rect">
            <a:avLst/>
          </a:prstGeom>
          <a:noFill/>
        </p:spPr>
        <p:txBody>
          <a:bodyPr wrap="square" anchor="t" lIns="0" rIns="0" tIns="36576" bIns="36576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900" b="1" i="0">
                <a:solidFill>
                  <a:srgbClr val="E0442A"/>
                </a:solidFill>
                <a:latin typeface="Calibri"/>
              </a:rPr>
              <a:t>Optimized −15.8%</a:t>
            </a:r>
          </a:p>
        </p:txBody>
      </p:sp>
      <p:sp>
        <p:nvSpPr>
          <p:cNvPr id="1181" name="TextBox 1180"/>
          <p:cNvSpPr txBox="1"/>
          <p:nvPr/>
        </p:nvSpPr>
        <p:spPr>
          <a:xfrm>
            <a:off x="5440680" y="8983522"/>
            <a:ext cx="4919472" cy="228600"/>
          </a:xfrm>
          <a:prstGeom prst="rect">
            <a:avLst/>
          </a:prstGeom>
          <a:noFill/>
        </p:spPr>
        <p:txBody>
          <a:bodyPr wrap="square" anchor="t" lIns="18288" rIns="18288" tIns="36576" bIns="36576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Calibri"/>
              </a:rPr>
              <a:t>Fig. 4  Rack visits per month (grey = rare, red = very frequent); dock at the bottom.</a:t>
            </a:r>
          </a:p>
        </p:txBody>
      </p:sp>
      <p:sp>
        <p:nvSpPr>
          <p:cNvPr id="1182" name="TextBox 1181"/>
          <p:cNvSpPr txBox="1"/>
          <p:nvPr/>
        </p:nvSpPr>
        <p:spPr>
          <a:xfrm>
            <a:off x="5394960" y="9354312"/>
            <a:ext cx="2194560" cy="329184"/>
          </a:xfrm>
          <a:prstGeom prst="rect">
            <a:avLst/>
          </a:prstGeom>
          <a:noFill/>
        </p:spPr>
        <p:txBody>
          <a:bodyPr wrap="square" anchor="t" lIns="18288" rIns="18288" tIns="36576" bIns="36576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800" b="1" i="0">
                <a:solidFill>
                  <a:srgbClr val="1F3864"/>
                </a:solidFill>
                <a:latin typeface="Calibri"/>
              </a:rPr>
              <a:t>SDGs Addressed:</a:t>
            </a:r>
          </a:p>
        </p:txBody>
      </p:sp>
      <p:sp>
        <p:nvSpPr>
          <p:cNvPr id="1183" name="Rectangle 1182"/>
          <p:cNvSpPr/>
          <p:nvPr/>
        </p:nvSpPr>
        <p:spPr>
          <a:xfrm>
            <a:off x="5458968" y="9720072"/>
            <a:ext cx="384048" cy="210312"/>
          </a:xfrm>
          <a:prstGeom prst="rect">
            <a:avLst/>
          </a:prstGeom>
          <a:solidFill>
            <a:srgbClr val="A21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9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SDG 8</a:t>
            </a:r>
          </a:p>
        </p:txBody>
      </p:sp>
      <p:sp>
        <p:nvSpPr>
          <p:cNvPr id="1184" name="TextBox 1183"/>
          <p:cNvSpPr txBox="1"/>
          <p:nvPr/>
        </p:nvSpPr>
        <p:spPr>
          <a:xfrm>
            <a:off x="5897880" y="9710928"/>
            <a:ext cx="4462272" cy="228600"/>
          </a:xfrm>
          <a:prstGeom prst="rect">
            <a:avLst/>
          </a:prstGeom>
          <a:noFill/>
        </p:spPr>
        <p:txBody>
          <a:bodyPr wrap="square" anchor="t" lIns="18288" rIns="18288" tIns="36576" bIns="36576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050" b="0" i="0">
                <a:solidFill>
                  <a:srgbClr val="000000"/>
                </a:solidFill>
                <a:latin typeface="Calibri"/>
              </a:rPr>
              <a:t>Decent work: less walking, less fatigue</a:t>
            </a:r>
          </a:p>
        </p:txBody>
      </p:sp>
      <p:sp>
        <p:nvSpPr>
          <p:cNvPr id="1185" name="Rectangle 1184"/>
          <p:cNvSpPr/>
          <p:nvPr/>
        </p:nvSpPr>
        <p:spPr>
          <a:xfrm>
            <a:off x="5458968" y="9966960"/>
            <a:ext cx="384048" cy="210312"/>
          </a:xfrm>
          <a:prstGeom prst="rect">
            <a:avLst/>
          </a:prstGeom>
          <a:solidFill>
            <a:srgbClr val="FD69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9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SDG 9</a:t>
            </a:r>
          </a:p>
        </p:txBody>
      </p:sp>
      <p:sp>
        <p:nvSpPr>
          <p:cNvPr id="1186" name="TextBox 1185"/>
          <p:cNvSpPr txBox="1"/>
          <p:nvPr/>
        </p:nvSpPr>
        <p:spPr>
          <a:xfrm>
            <a:off x="5897880" y="9957816"/>
            <a:ext cx="4462272" cy="228600"/>
          </a:xfrm>
          <a:prstGeom prst="rect">
            <a:avLst/>
          </a:prstGeom>
          <a:noFill/>
        </p:spPr>
        <p:txBody>
          <a:bodyPr wrap="square" anchor="t" lIns="18288" rIns="18288" tIns="36576" bIns="36576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050" b="0" i="0">
                <a:solidFill>
                  <a:srgbClr val="000000"/>
                </a:solidFill>
                <a:latin typeface="Calibri"/>
              </a:rPr>
              <a:t>Industry &amp; innovation: digital twin + IoT</a:t>
            </a:r>
          </a:p>
        </p:txBody>
      </p:sp>
      <p:sp>
        <p:nvSpPr>
          <p:cNvPr id="1187" name="Rectangle 1186"/>
          <p:cNvSpPr/>
          <p:nvPr/>
        </p:nvSpPr>
        <p:spPr>
          <a:xfrm>
            <a:off x="5458968" y="10213848"/>
            <a:ext cx="384048" cy="210312"/>
          </a:xfrm>
          <a:prstGeom prst="rect">
            <a:avLst/>
          </a:prstGeom>
          <a:solidFill>
            <a:srgbClr val="BF8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>
              <a:lnSpc>
                <a:spcPct val="9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SDG 12</a:t>
            </a:r>
          </a:p>
        </p:txBody>
      </p:sp>
      <p:sp>
        <p:nvSpPr>
          <p:cNvPr id="1188" name="TextBox 1187"/>
          <p:cNvSpPr txBox="1"/>
          <p:nvPr/>
        </p:nvSpPr>
        <p:spPr>
          <a:xfrm>
            <a:off x="5897880" y="10204704"/>
            <a:ext cx="4462272" cy="228600"/>
          </a:xfrm>
          <a:prstGeom prst="rect">
            <a:avLst/>
          </a:prstGeom>
          <a:noFill/>
        </p:spPr>
        <p:txBody>
          <a:bodyPr wrap="square" anchor="t" lIns="18288" rIns="18288" tIns="36576" bIns="36576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050" b="0" i="0">
                <a:solidFill>
                  <a:srgbClr val="000000"/>
                </a:solidFill>
                <a:latin typeface="Calibri"/>
              </a:rPr>
              <a:t>Responsible production: leaner logistics</a:t>
            </a:r>
          </a:p>
        </p:txBody>
      </p:sp>
      <p:sp>
        <p:nvSpPr>
          <p:cNvPr id="1189" name="TextBox 1188"/>
          <p:cNvSpPr txBox="1"/>
          <p:nvPr/>
        </p:nvSpPr>
        <p:spPr>
          <a:xfrm>
            <a:off x="5394960" y="10488168"/>
            <a:ext cx="4937760" cy="329184"/>
          </a:xfrm>
          <a:prstGeom prst="rect">
            <a:avLst/>
          </a:prstGeom>
          <a:noFill/>
        </p:spPr>
        <p:txBody>
          <a:bodyPr wrap="square" anchor="t" lIns="18288" rIns="18288" tIns="36576" bIns="36576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800" b="1" i="0">
                <a:solidFill>
                  <a:srgbClr val="1F3864"/>
                </a:solidFill>
                <a:latin typeface="Calibri"/>
              </a:rPr>
              <a:t>Conclusion/ Summary</a:t>
            </a:r>
          </a:p>
        </p:txBody>
      </p:sp>
      <p:sp>
        <p:nvSpPr>
          <p:cNvPr id="1190" name="TextBox 1189"/>
          <p:cNvSpPr txBox="1"/>
          <p:nvPr/>
        </p:nvSpPr>
        <p:spPr>
          <a:xfrm>
            <a:off x="5440680" y="10817352"/>
            <a:ext cx="4919472" cy="1481328"/>
          </a:xfrm>
          <a:prstGeom prst="rect">
            <a:avLst/>
          </a:prstGeom>
          <a:noFill/>
          <a:ln w="15875">
            <a:solidFill>
              <a:srgbClr val="42719B"/>
            </a:solidFill>
          </a:ln>
        </p:spPr>
        <p:txBody>
          <a:bodyPr wrap="square" anchor="t" lIns="64008" rIns="64008" tIns="36576" bIns="36576">
            <a:spAutoFit/>
          </a:bodyPr>
          <a:lstStyle/>
          <a:p>
            <a:pPr algn="just">
              <a:lnSpc>
                <a:spcPct val="92000"/>
              </a:lnSpc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Calibri"/>
              </a:rPr>
              <a:t>The textbook ABC rule saves only 2.5% because orders average 7 lines spread across the floor. Using </a:t>
            </a:r>
            <a:r>
              <a:rPr sz="1200" b="1" i="0">
                <a:solidFill>
                  <a:srgbClr val="000000"/>
                </a:solidFill>
                <a:latin typeface="Calibri"/>
              </a:rPr>
              <a:t>what customers buy together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 saves 11.3%, and simulated annealing 15.8% (34 km ≈ 8 picker-hours a month); the gains hold on unseen orders (13.9%). Smart batching plus the optimized layout cuts walking by 68%. With a </a:t>
            </a:r>
            <a:r>
              <a:rPr sz="1200" b="1" i="0">
                <a:solidFill>
                  <a:srgbClr val="000000"/>
                </a:solidFill>
                <a:latin typeface="Calibri"/>
              </a:rPr>
              <a:t>team</a:t>
            </a:r>
            <a:r>
              <a:rPr sz="1200" b="0" i="0">
                <a:solidFill>
                  <a:srgbClr val="000000"/>
                </a:solidFill>
                <a:latin typeface="Calibri"/>
              </a:rPr>
              <a:t>, narrow aisles lose 23–35% of capacity to queueing, which erodes about half the slotting gain: aisle width and batching matter as much as slotting. Next: live sensor input and dynamic re-slotting.</a:t>
            </a:r>
          </a:p>
        </p:txBody>
      </p:sp>
      <p:cxnSp>
        <p:nvCxnSpPr>
          <p:cNvPr id="1191" name="Connector 1190"/>
          <p:cNvCxnSpPr/>
          <p:nvPr/>
        </p:nvCxnSpPr>
        <p:spPr>
          <a:xfrm>
            <a:off x="5394960" y="12508992"/>
            <a:ext cx="4965192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2" name="TextBox 1191"/>
          <p:cNvSpPr txBox="1"/>
          <p:nvPr/>
        </p:nvSpPr>
        <p:spPr>
          <a:xfrm>
            <a:off x="5394960" y="12545568"/>
            <a:ext cx="4965192" cy="457200"/>
          </a:xfrm>
          <a:prstGeom prst="rect">
            <a:avLst/>
          </a:prstGeom>
          <a:noFill/>
        </p:spPr>
        <p:txBody>
          <a:bodyPr wrap="square" anchor="t" lIns="18288" rIns="18288" tIns="36576" bIns="36576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780" b="1" i="0">
                <a:solidFill>
                  <a:srgbClr val="1F3864"/>
                </a:solidFill>
                <a:latin typeface="Calibri"/>
              </a:rPr>
              <a:t>Contact Details : </a:t>
            </a:r>
            <a:r>
              <a:rPr sz="1200" b="0" i="0">
                <a:solidFill>
                  <a:srgbClr val="0563C1"/>
                </a:solidFill>
                <a:latin typeface="Calibri"/>
              </a:rPr>
              <a:t>rohithkrishna.a2025@vitstudent.ac.in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200" b="0" i="0">
                <a:solidFill>
                  <a:srgbClr val="0563C1"/>
                </a:solidFill>
                <a:latin typeface="Calibri"/>
              </a:rPr>
              <a:t>jaidev.a2025@vitstudent.ac.in   ·   jaffino.g@vit.ac.in (guide)</a:t>
            </a:r>
          </a:p>
        </p:txBody>
      </p:sp>
      <p:sp>
        <p:nvSpPr>
          <p:cNvPr id="1193" name="TextBox 1192"/>
          <p:cNvSpPr txBox="1"/>
          <p:nvPr/>
        </p:nvSpPr>
        <p:spPr>
          <a:xfrm>
            <a:off x="5394960" y="13048488"/>
            <a:ext cx="4937760" cy="329184"/>
          </a:xfrm>
          <a:prstGeom prst="rect">
            <a:avLst/>
          </a:prstGeom>
          <a:noFill/>
        </p:spPr>
        <p:txBody>
          <a:bodyPr wrap="square" anchor="t" lIns="18288" rIns="18288" tIns="36576" bIns="36576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800" b="1" i="0">
                <a:solidFill>
                  <a:srgbClr val="1F3864"/>
                </a:solidFill>
                <a:latin typeface="Calibri"/>
              </a:rPr>
              <a:t>Acknowledgments/ References</a:t>
            </a:r>
          </a:p>
        </p:txBody>
      </p:sp>
      <p:sp>
        <p:nvSpPr>
          <p:cNvPr id="1194" name="TextBox 1193"/>
          <p:cNvSpPr txBox="1"/>
          <p:nvPr/>
        </p:nvSpPr>
        <p:spPr>
          <a:xfrm>
            <a:off x="5440680" y="13368528"/>
            <a:ext cx="4919472" cy="1417320"/>
          </a:xfrm>
          <a:prstGeom prst="rect">
            <a:avLst/>
          </a:prstGeom>
          <a:noFill/>
        </p:spPr>
        <p:txBody>
          <a:bodyPr wrap="square" anchor="t" lIns="64008" rIns="64008" tIns="36576" bIns="36576">
            <a:spAutoFit/>
          </a:bodyPr>
          <a:lstStyle/>
          <a:p>
            <a:pPr algn="just" marL="200000" indent="-200000">
              <a:lnSpc>
                <a:spcPct val="90000"/>
              </a:lnSpc>
              <a:spcAft>
                <a:spcPts val="150"/>
              </a:spcAft>
              <a:buAutoNum type="arabicPeriod"/>
            </a:pPr>
            <a:r>
              <a:rPr sz="900" b="0" i="0">
                <a:solidFill>
                  <a:srgbClr val="000000"/>
                </a:solidFill>
                <a:latin typeface="Calibri"/>
              </a:rPr>
              <a:t>Chen, D. (2019). Online Retail II [Dataset]. UCI Machine Learning Repository. https://doi.org/10.24432/C5CG6D</a:t>
            </a:r>
          </a:p>
          <a:p>
            <a:pPr algn="just" marL="200000" indent="-200000">
              <a:lnSpc>
                <a:spcPct val="90000"/>
              </a:lnSpc>
              <a:spcAft>
                <a:spcPts val="150"/>
              </a:spcAft>
              <a:buAutoNum type="arabicPeriod"/>
            </a:pPr>
            <a:r>
              <a:rPr sz="900" b="0" i="0">
                <a:solidFill>
                  <a:srgbClr val="000000"/>
                </a:solidFill>
                <a:latin typeface="Calibri"/>
              </a:rPr>
              <a:t>de Koster, R., Le-Duc, T., &amp; Roodbergen, K. J. (2007). Design and control of warehouse order picking: A literature review. European Journal of Operational Research, 182(2), 481–501.</a:t>
            </a:r>
          </a:p>
          <a:p>
            <a:pPr algn="just" marL="200000" indent="-200000">
              <a:lnSpc>
                <a:spcPct val="90000"/>
              </a:lnSpc>
              <a:spcAft>
                <a:spcPts val="150"/>
              </a:spcAft>
              <a:buAutoNum type="arabicPeriod"/>
            </a:pPr>
            <a:r>
              <a:rPr sz="900" b="0" i="0">
                <a:solidFill>
                  <a:srgbClr val="000000"/>
                </a:solidFill>
                <a:latin typeface="Calibri"/>
              </a:rPr>
              <a:t>Kirkpatrick, S., Gelatt, C. D., &amp; Vecchi, M. P. (1983). Optimization by simulated annealing. Science, 220(4598), 671–680.</a:t>
            </a:r>
          </a:p>
          <a:p>
            <a:pPr algn="just" marL="200000" indent="-200000">
              <a:lnSpc>
                <a:spcPct val="90000"/>
              </a:lnSpc>
              <a:spcAft>
                <a:spcPts val="150"/>
              </a:spcAft>
              <a:buAutoNum type="arabicPeriod"/>
            </a:pPr>
            <a:r>
              <a:rPr sz="900" b="0" i="0">
                <a:solidFill>
                  <a:srgbClr val="000000"/>
                </a:solidFill>
                <a:latin typeface="Calibri"/>
              </a:rPr>
              <a:t>Gue, K. R., Meller, R. D., &amp; Skufca, J. D. (2006). The effects of pick density on order picking areas with narrow aisles. IIE Transactions, 38(10), 859–868.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867</Words>
  <Application>Microsoft Office PowerPoint</Application>
  <PresentationFormat>Custom</PresentationFormat>
  <Paragraphs>64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Windows User</cp:lastModifiedBy>
  <cp:revision>3</cp:revision>
  <dcterms:modified xsi:type="dcterms:W3CDTF">2025-11-06T12:26:38Z</dcterms:modified>
</cp:coreProperties>
</file>