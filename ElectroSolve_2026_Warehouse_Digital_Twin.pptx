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Perfect scaling</c:v>
                </c:pt>
              </c:strCache>
            </c:strRef>
          </c:tx>
          <c:spPr>
            <a:ln w="28575">
              <a:solidFill>
                <a:srgbClr val="7D786C"/>
              </a:solidFill>
              <a:prstDash val="dash"/>
            </a:ln>
          </c:spPr>
          <c:marker>
            <c:symbol val="circle"/>
            <c:size val="6"/>
            <c:spPr>
              <a:solidFill>
                <a:srgbClr val="7D786C"/>
              </a:solidFill>
              <a:ln>
                <a:solidFill>
                  <a:srgbClr val="7D786C"/>
                </a:solidFill>
              </a:ln>
            </c:spPr>
          </c:marke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26.2</c:v>
                </c:pt>
                <c:pt idx="1">
                  <c:v>52.4</c:v>
                </c:pt>
                <c:pt idx="2">
                  <c:v>78.5</c:v>
                </c:pt>
                <c:pt idx="3">
                  <c:v>104.7</c:v>
                </c:pt>
                <c:pt idx="4">
                  <c:v>130.9</c:v>
                </c:pt>
                <c:pt idx="5">
                  <c:v>157.1</c:v>
                </c:pt>
              </c:numCache>
            </c:numRef>
          </c:val>
          <c:smooth val="0"/>
        </c:ser>
        <c:ser>
          <c:idx val="1"/>
          <c:order val="1"/>
          <c:tx>
            <c:strRef>
              <c:f>Sheet1!$C$1</c:f>
              <c:strCache>
                <c:ptCount val="1"/>
                <c:pt idx="0">
                  <c:v>Wide aisles · 2 carts</c:v>
                </c:pt>
              </c:strCache>
            </c:strRef>
          </c:tx>
          <c:spPr>
            <a:ln w="28575">
              <a:solidFill>
                <a:srgbClr val="2340B8"/>
              </a:solidFill>
            </a:ln>
          </c:spPr>
          <c:marker>
            <c:symbol val="circle"/>
            <c:size val="6"/>
            <c:spPr>
              <a:solidFill>
                <a:srgbClr val="2340B8"/>
              </a:solidFill>
              <a:ln>
                <a:solidFill>
                  <a:srgbClr val="2340B8"/>
                </a:solidFill>
              </a:ln>
            </c:spPr>
          </c:marker>
          <c:cat>
            <c:strRef>
              <c:f>Sheet1!$A$2:$A$7</c:f>
              <c:strCache>
                <c:ptCount val="6"/>
                <c:pt idx="0">
                  <c:v>1</c:v>
                </c:pt>
                <c:pt idx="1">
                  <c:v>2</c:v>
                </c:pt>
                <c:pt idx="2">
                  <c:v>3</c:v>
                </c:pt>
                <c:pt idx="3">
                  <c:v>4</c:v>
                </c:pt>
                <c:pt idx="4">
                  <c:v>5</c:v>
                </c:pt>
                <c:pt idx="5">
                  <c:v>6</c:v>
                </c:pt>
              </c:strCache>
            </c:strRef>
          </c:cat>
          <c:val>
            <c:numRef>
              <c:f>Sheet1!$C$2:$C$7</c:f>
              <c:numCache>
                <c:formatCode>General</c:formatCode>
                <c:ptCount val="6"/>
                <c:pt idx="0">
                  <c:v>26.2</c:v>
                </c:pt>
                <c:pt idx="1">
                  <c:v>52.4</c:v>
                </c:pt>
                <c:pt idx="2">
                  <c:v>77.8</c:v>
                </c:pt>
                <c:pt idx="3">
                  <c:v>102.3</c:v>
                </c:pt>
                <c:pt idx="4">
                  <c:v>125.3</c:v>
                </c:pt>
                <c:pt idx="5">
                  <c:v>146.0</c:v>
                </c:pt>
              </c:numCache>
            </c:numRef>
          </c:val>
          <c:smooth val="0"/>
        </c:ser>
        <c:ser>
          <c:idx val="2"/>
          <c:order val="2"/>
          <c:tx>
            <c:strRef>
              <c:f>Sheet1!$D$1</c:f>
              <c:strCache>
                <c:ptCount val="1"/>
                <c:pt idx="0">
                  <c:v>Narrow aisles · 1 cart</c:v>
                </c:pt>
              </c:strCache>
            </c:strRef>
          </c:tx>
          <c:spPr>
            <a:ln w="38100">
              <a:solidFill>
                <a:srgbClr val="E0442A"/>
              </a:solidFill>
            </a:ln>
          </c:spPr>
          <c:marker>
            <c:symbol val="circle"/>
            <c:size val="6"/>
            <c:spPr>
              <a:solidFill>
                <a:srgbClr val="E0442A"/>
              </a:solidFill>
              <a:ln>
                <a:solidFill>
                  <a:srgbClr val="E0442A"/>
                </a:solidFill>
              </a:ln>
            </c:spPr>
          </c:marker>
          <c:cat>
            <c:strRef>
              <c:f>Sheet1!$A$2:$A$7</c:f>
              <c:strCache>
                <c:ptCount val="6"/>
                <c:pt idx="0">
                  <c:v>1</c:v>
                </c:pt>
                <c:pt idx="1">
                  <c:v>2</c:v>
                </c:pt>
                <c:pt idx="2">
                  <c:v>3</c:v>
                </c:pt>
                <c:pt idx="3">
                  <c:v>4</c:v>
                </c:pt>
                <c:pt idx="4">
                  <c:v>5</c:v>
                </c:pt>
                <c:pt idx="5">
                  <c:v>6</c:v>
                </c:pt>
              </c:strCache>
            </c:strRef>
          </c:cat>
          <c:val>
            <c:numRef>
              <c:f>Sheet1!$D$2:$D$7</c:f>
              <c:numCache>
                <c:formatCode>General</c:formatCode>
                <c:ptCount val="6"/>
                <c:pt idx="0">
                  <c:v>26.2</c:v>
                </c:pt>
                <c:pt idx="1">
                  <c:v>48.0</c:v>
                </c:pt>
                <c:pt idx="2">
                  <c:v>66.2</c:v>
                </c:pt>
                <c:pt idx="3">
                  <c:v>80.8</c:v>
                </c:pt>
                <c:pt idx="4">
                  <c:v>92.8</c:v>
                </c:pt>
                <c:pt idx="5">
                  <c:v>101.4</c:v>
                </c:pt>
              </c:numCache>
            </c:numRef>
          </c:val>
          <c:smooth val="0"/>
        </c:ser>
        <c:marker val="1"/>
        <c:smooth val="0"/>
        <c:axId val="2118791784"/>
        <c:axId val="2140495176"/>
      </c:lineChart>
      <c:catAx>
        <c:axId val="2118791784"/>
        <c:scaling>
          <c:orientation val="minMax"/>
        </c:scaling>
        <c:delete val="0"/>
        <c:axPos val="b"/>
        <c:title>
          <c:tx>
            <c:rich>
              <a:bodyPr/>
              <a:lstStyle/>
              <a:p>
                <a:r>
                  <a:rPr sz="950" b="0">
                    <a:solidFill>
                      <a:srgbClr val="7D786C"/>
                    </a:solidFill>
                    <a:latin typeface="Bahnschrift"/>
                  </a:rPr>
                  <a:t>pickers on the floor</a:t>
                </a:r>
              </a:p>
            </c:rich>
          </c:tx>
          <c:layout/>
          <c:overlay val="0"/>
        </c:title>
        <c:majorTickMark val="out"/>
        <c:minorTickMark val="none"/>
        <c:tickLblPos val="nextTo"/>
        <c:spPr>
          <a:ln>
            <a:solidFill>
              <a:srgbClr val="1F2226"/>
            </a:solidFill>
          </a:ln>
        </c:spPr>
        <c:crossAx val="2140495176"/>
        <c:crosses val="autoZero"/>
        <c:auto val="1"/>
        <c:lblAlgn val="ctr"/>
        <c:lblOffset val="100"/>
        <c:noMultiLvlLbl val="0"/>
      </c:catAx>
      <c:valAx>
        <c:axId val="2140495176"/>
        <c:scaling/>
        <c:delete val="0"/>
        <c:axPos val="l"/>
        <c:majorGridlines>
          <c:spPr>
            <a:ln>
              <a:solidFill>
                <a:srgbClr val="D3CAB8"/>
              </a:solidFill>
            </a:ln>
          </c:spPr>
        </c:majorGridlines>
        <c:title>
          <c:tx>
            <c:rich>
              <a:bodyPr/>
              <a:lstStyle/>
              <a:p>
                <a:r>
                  <a:rPr sz="950" b="0">
                    <a:solidFill>
                      <a:srgbClr val="7D786C"/>
                    </a:solidFill>
                    <a:latin typeface="Bahnschrift"/>
                  </a:rPr>
                  <a:t>orders per hour</a:t>
                </a:r>
              </a:p>
            </c:rich>
          </c:tx>
          <c:layout/>
          <c:overlay val="0"/>
        </c:title>
        <c:majorTickMark val="out"/>
        <c:minorTickMark val="none"/>
        <c:tickLblPos val="nextTo"/>
        <c:spPr>
          <a:ln>
            <a:noFill/>
          </a:ln>
        </c:spPr>
        <c:crossAx val="2118791784"/>
        <c:crosses val="autoZero"/>
      </c:valAx>
    </c:plotArea>
    <c:legend>
      <c:legendPos val="t"/>
      <c:layout/>
      <c:overlay val="0"/>
    </c:legend>
    <c:plotVisOnly val="1"/>
    <c:dispBlanksAs val="gap"/>
    <c:showDLblsOverMax val="0"/>
  </c:chart>
  <c:txPr>
    <a:bodyPr/>
    <a:lstStyle/>
    <a:p>
      <a:pPr>
        <a:defRPr sz="1000">
          <a:solidFill>
            <a:srgbClr val="4A4D52"/>
          </a:solidFill>
          <a:latin typeface="Bahnschrif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pickers in a warehouse spend more time walking than picking, and where each product sits decides how far they walk. We built a 3D digital twin of a picking floor, driven by 2,293 real customer orders. Rearrange the shelves and the twin replays exactly the same orders to measure the walking saved, instead of just claiming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model one order costs about 79 s of walking and 71 s of picking, so 53% of the time is walking. Over the month one picker walks 218 km in a 100-slot zone. The picture is one real order, invoice 532964: 9 lines, and on the as-received layout the picker walks 143 m through all 5 aisles.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UCI Online Retail II, a UK gift wholesaler, November 2010, the pre-Christmas peak. We remove cancellations, postage and fees, and invalid rows: 76,584 lines become 74,757. We keep the top 100 products by pick lines: 3% of the range but 22% of picks. Result: 2,293 real orders, 7.1 lines per order. A pick is one order line, because walking depends on visits, not quantity.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Python cleans the data once; one shared JavaScript simulation core routes and scores any layout. The same code runs offline in Node for the optimizer and live in the browser for the game, so the numbers are identical. The floor is a graph of 61 nodes and 64 edges, and no edge passes through a rack. The 3D floor itself is baked in Blender from the same geometry.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fix is ABC slotting: most-picked products nearest the dock. On the same 2,293 orders it saves only 2.5%. Why: an average order has 7 lines spread over many products, so the picker still enters most aisles. Rack colour is how often each slot is visited.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Affinity slotting uses what customers buy together: products that share orders are pulled into the same aisle, while fast movers still sit near the dock. Same orders: 218.1 to 193.4 km, 11.3% less walking, four to five times the ABC saving.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optimizer is simulated annealing over slot swaps: 80,000 swaps, each judged by re-routing every affected order of the month. 462 were accepted, in about 44 seconds on a laptop. Result: 183.7 km, 15.8% less walking. That is 34 km, about 8 hours of picker time a month.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means for one order. Invoice 532964, 9 lines. Original layout: 143 m through 5 aisles. Optimized: 62 m through 2. To be fair, this is one of the biggest single-order wins of the month; on average an order goes from 95 to 80 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memorising the month? No. We built the layouts only from orders before 22 November and tested on the final week, 766 orders they never saw: ABC 1.9%, Affinity 11.2%, Optimized 13.9%. And slotting stacks with process: batching 4 orders per trip cuts the month to 88 km; layout-aware smart batching plus the optimized layout gets to 70 km, 68% less than where we started.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floors have more than one picker. We simulate a team of 1 to 6 pickers clearing the month's backlog. In a narrow aisle only one cart fits, so the next picker waits at the entrance. With 4 pickers the team loses about 23% of its capacity to queueing; with 6, about 35%. Wide aisles almost remove it. And the optimized layout's lead shrinks from 9% to 5%, because concentrating picks also concentrates people. Aisle width and batching matter as much as slotting once you have a team.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Click one rack, then another, to swap; the whole month re-scores instantly. Diamonds show products bought together. The live optimizer runs the same annealing in a background thread on your layout; in this screenshot it beat the offline optimizer, 182.3 km. Space to replay, 1 to 5 layouts, H heatmap, B batching, I IoT mode, O optimizer.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ECE angle: a digital twin needs sensors. The replay already emits the events real devices would stream: an RFID gate at the dock, a UWB tag on the cart, pick-to-light modules on every slot, and barcode confirmations. It downloads as JSON Lines, so real hardware can replace the replay. Next: live sensor input and dynamic re-slotting. Thank you, questions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01</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548640"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hero" descr="axo_optimized.jpg"/>
          <p:cNvPicPr>
            <a:picLocks noChangeAspect="1"/>
          </p:cNvPicPr>
          <p:nvPr/>
        </p:nvPicPr>
        <p:blipFill>
          <a:blip r:embed="rId3"/>
          <a:stretch>
            <a:fillRect/>
          </a:stretch>
        </p:blipFill>
        <p:spPr>
          <a:xfrm>
            <a:off x="4572000" y="685800"/>
            <a:ext cx="8138160" cy="5086350"/>
          </a:xfrm>
          <a:prstGeom prst="rect">
            <a:avLst/>
          </a:prstGeom>
        </p:spPr>
      </p:pic>
      <p:sp>
        <p:nvSpPr>
          <p:cNvPr id="10" name="Rectangle 9"/>
          <p:cNvSpPr/>
          <p:nvPr/>
        </p:nvSpPr>
        <p:spPr>
          <a:xfrm rot="21420000">
            <a:off x="548640" y="960120"/>
            <a:ext cx="868680" cy="329184"/>
          </a:xfrm>
          <a:prstGeom prst="rect">
            <a:avLst/>
          </a:prstGeom>
          <a:noFill/>
          <a:ln w="19050">
            <a:solidFill>
              <a:srgbClr val="E044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rot="21420000">
            <a:off x="548640" y="960120"/>
            <a:ext cx="868680" cy="329184"/>
          </a:xfrm>
          <a:prstGeom prst="rect">
            <a:avLst/>
          </a:prstGeom>
          <a:noFill/>
        </p:spPr>
        <p:txBody>
          <a:bodyPr wrap="square" lIns="0" rIns="0" tIns="0" bIns="0" anchor="ctr">
            <a:spAutoFit/>
          </a:bodyPr>
          <a:lstStyle/>
          <a:p>
            <a:pPr algn="ctr">
              <a:spcAft>
                <a:spcPts val="0"/>
              </a:spcAft>
            </a:pPr>
            <a:r>
              <a:rPr sz="1100" b="1" spc="150">
                <a:solidFill>
                  <a:srgbClr val="E0442A"/>
                </a:solidFill>
                <a:latin typeface="Bahnschrift SemiCondensed"/>
              </a:rPr>
              <a:t>PS 4.2</a:t>
            </a:r>
          </a:p>
        </p:txBody>
      </p:sp>
      <p:sp>
        <p:nvSpPr>
          <p:cNvPr id="12" name="TextBox 11"/>
          <p:cNvSpPr txBox="1"/>
          <p:nvPr/>
        </p:nvSpPr>
        <p:spPr>
          <a:xfrm>
            <a:off x="1600200" y="1033271"/>
            <a:ext cx="3657600" cy="274320"/>
          </a:xfrm>
          <a:prstGeom prst="rect">
            <a:avLst/>
          </a:prstGeom>
          <a:noFill/>
        </p:spPr>
        <p:txBody>
          <a:bodyPr wrap="square" lIns="0" rIns="0" tIns="0" bIns="0" anchor="t">
            <a:spAutoFit/>
          </a:bodyPr>
          <a:lstStyle/>
          <a:p>
            <a:pPr algn="l">
              <a:spcAft>
                <a:spcPts val="0"/>
              </a:spcAft>
            </a:pPr>
            <a:r>
              <a:rPr sz="1000" b="0" spc="100">
                <a:solidFill>
                  <a:srgbClr val="4A4D52"/>
                </a:solidFill>
                <a:latin typeface="Cascadia Mono"/>
              </a:rPr>
              <a:t>ELECTRO-SOLVE 2026  ·  PROJECT EXPO</a:t>
            </a:r>
          </a:p>
        </p:txBody>
      </p:sp>
      <p:sp>
        <p:nvSpPr>
          <p:cNvPr id="13" name="!!title"/>
          <p:cNvSpPr txBox="1"/>
          <p:nvPr/>
        </p:nvSpPr>
        <p:spPr>
          <a:xfrm>
            <a:off x="548640" y="1600200"/>
            <a:ext cx="5486400" cy="2103120"/>
          </a:xfrm>
          <a:prstGeom prst="rect">
            <a:avLst/>
          </a:prstGeom>
          <a:noFill/>
        </p:spPr>
        <p:txBody>
          <a:bodyPr wrap="square" lIns="0" rIns="0" tIns="0" bIns="0" anchor="t">
            <a:spAutoFit/>
          </a:bodyPr>
          <a:lstStyle/>
          <a:p>
            <a:pPr algn="l">
              <a:lnSpc>
                <a:spcPct val="90000"/>
              </a:lnSpc>
              <a:spcAft>
                <a:spcPts val="0"/>
              </a:spcAft>
            </a:pPr>
            <a:r>
              <a:rPr sz="6000" b="0">
                <a:solidFill>
                  <a:srgbClr val="1F2226"/>
                </a:solidFill>
                <a:latin typeface="Bahnschrift SemiBold"/>
              </a:rPr>
              <a:t>Picking Floor</a:t>
            </a:r>
          </a:p>
          <a:p>
            <a:pPr algn="l">
              <a:lnSpc>
                <a:spcPct val="90000"/>
              </a:lnSpc>
              <a:spcAft>
                <a:spcPts val="0"/>
              </a:spcAft>
            </a:pPr>
            <a:r>
              <a:rPr sz="6000" b="0">
                <a:solidFill>
                  <a:srgbClr val="E0442A"/>
                </a:solidFill>
                <a:latin typeface="Bahnschrift Light"/>
              </a:rPr>
              <a:t>Digital Twin</a:t>
            </a:r>
          </a:p>
        </p:txBody>
      </p:sp>
      <p:sp>
        <p:nvSpPr>
          <p:cNvPr id="14" name="!!body"/>
          <p:cNvSpPr txBox="1"/>
          <p:nvPr/>
        </p:nvSpPr>
        <p:spPr>
          <a:xfrm>
            <a:off x="548640" y="3520440"/>
            <a:ext cx="4206240" cy="1280160"/>
          </a:xfrm>
          <a:prstGeom prst="rect">
            <a:avLst/>
          </a:prstGeom>
          <a:noFill/>
        </p:spPr>
        <p:txBody>
          <a:bodyPr wrap="square" lIns="0" rIns="0" tIns="0" bIns="0" anchor="t">
            <a:spAutoFit/>
          </a:bodyPr>
          <a:lstStyle/>
          <a:p>
            <a:pPr algn="l">
              <a:lnSpc>
                <a:spcPct val="112000"/>
              </a:lnSpc>
              <a:spcAft>
                <a:spcPts val="0"/>
              </a:spcAft>
            </a:pPr>
            <a:r>
              <a:rPr sz="1500" b="0">
                <a:solidFill>
                  <a:srgbClr val="4A4D52"/>
                </a:solidFill>
                <a:latin typeface="Bahnschrift"/>
              </a:rPr>
              <a:t>A 3D twin of a warehouse picking floor, driven by 2,293 real customer orders. Re-shelve the products and it replays the same month to measure the walking saved.</a:t>
            </a:r>
          </a:p>
        </p:txBody>
      </p:sp>
      <p:sp>
        <p:nvSpPr>
          <p:cNvPr id="15" name="Rectangle 14"/>
          <p:cNvSpPr/>
          <p:nvPr/>
        </p:nvSpPr>
        <p:spPr>
          <a:xfrm>
            <a:off x="548640" y="4892040"/>
            <a:ext cx="132588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983480"/>
            <a:ext cx="1371600" cy="457200"/>
          </a:xfrm>
          <a:prstGeom prst="rect">
            <a:avLst/>
          </a:prstGeom>
          <a:noFill/>
        </p:spPr>
        <p:txBody>
          <a:bodyPr wrap="square" lIns="0" rIns="0" tIns="0" bIns="0" anchor="t">
            <a:spAutoFit/>
          </a:bodyPr>
          <a:lstStyle/>
          <a:p>
            <a:pPr algn="l">
              <a:spcAft>
                <a:spcPts val="0"/>
              </a:spcAft>
            </a:pPr>
            <a:r>
              <a:rPr sz="2400" b="0">
                <a:solidFill>
                  <a:srgbClr val="1F2226"/>
                </a:solidFill>
                <a:latin typeface="Bahnschrift Light"/>
              </a:rPr>
              <a:t>2,293</a:t>
            </a:r>
          </a:p>
        </p:txBody>
      </p:sp>
      <p:sp>
        <p:nvSpPr>
          <p:cNvPr id="17" name="TextBox 16"/>
          <p:cNvSpPr txBox="1"/>
          <p:nvPr/>
        </p:nvSpPr>
        <p:spPr>
          <a:xfrm>
            <a:off x="548640" y="5440680"/>
            <a:ext cx="1325880" cy="457200"/>
          </a:xfrm>
          <a:prstGeom prst="rect">
            <a:avLst/>
          </a:prstGeom>
          <a:noFill/>
        </p:spPr>
        <p:txBody>
          <a:bodyPr wrap="square" lIns="0" rIns="0" tIns="0" bIns="0" anchor="t">
            <a:spAutoFit/>
          </a:bodyPr>
          <a:lstStyle/>
          <a:p>
            <a:pPr algn="l">
              <a:lnSpc>
                <a:spcPct val="105000"/>
              </a:lnSpc>
              <a:spcAft>
                <a:spcPts val="0"/>
              </a:spcAft>
            </a:pPr>
            <a:r>
              <a:rPr sz="950" b="0">
                <a:solidFill>
                  <a:srgbClr val="4A4D52"/>
                </a:solidFill>
                <a:latin typeface="Bahnschrift"/>
              </a:rPr>
              <a:t>real orders replayed</a:t>
            </a:r>
          </a:p>
        </p:txBody>
      </p:sp>
      <p:sp>
        <p:nvSpPr>
          <p:cNvPr id="18" name="Rectangle 17"/>
          <p:cNvSpPr/>
          <p:nvPr/>
        </p:nvSpPr>
        <p:spPr>
          <a:xfrm>
            <a:off x="2029968" y="4892040"/>
            <a:ext cx="132588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29968" y="4983480"/>
            <a:ext cx="1371600" cy="457200"/>
          </a:xfrm>
          <a:prstGeom prst="rect">
            <a:avLst/>
          </a:prstGeom>
          <a:noFill/>
        </p:spPr>
        <p:txBody>
          <a:bodyPr wrap="square" lIns="0" rIns="0" tIns="0" bIns="0" anchor="t">
            <a:spAutoFit/>
          </a:bodyPr>
          <a:lstStyle/>
          <a:p>
            <a:pPr algn="l">
              <a:spcAft>
                <a:spcPts val="0"/>
              </a:spcAft>
            </a:pPr>
            <a:r>
              <a:rPr sz="2400" b="0">
                <a:solidFill>
                  <a:srgbClr val="E0442A"/>
                </a:solidFill>
                <a:latin typeface="Bahnschrift Light"/>
              </a:rPr>
              <a:t>−15.8%</a:t>
            </a:r>
          </a:p>
        </p:txBody>
      </p:sp>
      <p:sp>
        <p:nvSpPr>
          <p:cNvPr id="20" name="TextBox 19"/>
          <p:cNvSpPr txBox="1"/>
          <p:nvPr/>
        </p:nvSpPr>
        <p:spPr>
          <a:xfrm>
            <a:off x="2029968" y="5440680"/>
            <a:ext cx="1325880" cy="457200"/>
          </a:xfrm>
          <a:prstGeom prst="rect">
            <a:avLst/>
          </a:prstGeom>
          <a:noFill/>
        </p:spPr>
        <p:txBody>
          <a:bodyPr wrap="square" lIns="0" rIns="0" tIns="0" bIns="0" anchor="t">
            <a:spAutoFit/>
          </a:bodyPr>
          <a:lstStyle/>
          <a:p>
            <a:pPr algn="l">
              <a:lnSpc>
                <a:spcPct val="105000"/>
              </a:lnSpc>
              <a:spcAft>
                <a:spcPts val="0"/>
              </a:spcAft>
            </a:pPr>
            <a:r>
              <a:rPr sz="950" b="0">
                <a:solidFill>
                  <a:srgbClr val="4A4D52"/>
                </a:solidFill>
                <a:latin typeface="Bahnschrift"/>
              </a:rPr>
              <a:t>walking, optimized layout</a:t>
            </a:r>
          </a:p>
        </p:txBody>
      </p:sp>
      <p:sp>
        <p:nvSpPr>
          <p:cNvPr id="21" name="Rectangle 20"/>
          <p:cNvSpPr/>
          <p:nvPr/>
        </p:nvSpPr>
        <p:spPr>
          <a:xfrm>
            <a:off x="3511296" y="4892040"/>
            <a:ext cx="132588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11296" y="4983480"/>
            <a:ext cx="1371600" cy="457200"/>
          </a:xfrm>
          <a:prstGeom prst="rect">
            <a:avLst/>
          </a:prstGeom>
          <a:noFill/>
        </p:spPr>
        <p:txBody>
          <a:bodyPr wrap="square" lIns="0" rIns="0" tIns="0" bIns="0" anchor="t">
            <a:spAutoFit/>
          </a:bodyPr>
          <a:lstStyle/>
          <a:p>
            <a:pPr algn="l">
              <a:spcAft>
                <a:spcPts val="0"/>
              </a:spcAft>
            </a:pPr>
            <a:r>
              <a:rPr sz="2400" b="0">
                <a:solidFill>
                  <a:srgbClr val="E0442A"/>
                </a:solidFill>
                <a:latin typeface="Bahnschrift Light"/>
              </a:rPr>
              <a:t>−68%</a:t>
            </a:r>
          </a:p>
        </p:txBody>
      </p:sp>
      <p:sp>
        <p:nvSpPr>
          <p:cNvPr id="23" name="TextBox 22"/>
          <p:cNvSpPr txBox="1"/>
          <p:nvPr/>
        </p:nvSpPr>
        <p:spPr>
          <a:xfrm>
            <a:off x="3511296" y="5440680"/>
            <a:ext cx="1325880" cy="457200"/>
          </a:xfrm>
          <a:prstGeom prst="rect">
            <a:avLst/>
          </a:prstGeom>
          <a:noFill/>
        </p:spPr>
        <p:txBody>
          <a:bodyPr wrap="square" lIns="0" rIns="0" tIns="0" bIns="0" anchor="t">
            <a:spAutoFit/>
          </a:bodyPr>
          <a:lstStyle/>
          <a:p>
            <a:pPr algn="l">
              <a:lnSpc>
                <a:spcPct val="105000"/>
              </a:lnSpc>
              <a:spcAft>
                <a:spcPts val="0"/>
              </a:spcAft>
            </a:pPr>
            <a:r>
              <a:rPr sz="950" b="0">
                <a:solidFill>
                  <a:srgbClr val="4A4D52"/>
                </a:solidFill>
                <a:latin typeface="Bahnschrift"/>
              </a:rPr>
              <a:t>with smart batching</a:t>
            </a:r>
          </a:p>
        </p:txBody>
      </p:sp>
      <p:sp>
        <p:nvSpPr>
          <p:cNvPr id="24" name="TextBox 23"/>
          <p:cNvSpPr txBox="1"/>
          <p:nvPr/>
        </p:nvSpPr>
        <p:spPr>
          <a:xfrm>
            <a:off x="548640" y="5760720"/>
            <a:ext cx="5669280" cy="640080"/>
          </a:xfrm>
          <a:prstGeom prst="rect">
            <a:avLst/>
          </a:prstGeom>
          <a:noFill/>
        </p:spPr>
        <p:txBody>
          <a:bodyPr wrap="square" lIns="0" rIns="0" tIns="0" bIns="0" anchor="t">
            <a:spAutoFit/>
          </a:bodyPr>
          <a:lstStyle/>
          <a:p>
            <a:pPr algn="l">
              <a:spcAft>
                <a:spcPts val="0"/>
              </a:spcAft>
            </a:pPr>
            <a:r>
              <a:rPr sz="1050" b="0">
                <a:solidFill>
                  <a:srgbClr val="1F2226"/>
                </a:solidFill>
                <a:latin typeface="Bahnschrift SemiBold"/>
              </a:rPr>
              <a:t>Team GitHappens  ·  SENSE, VIT</a:t>
            </a:r>
          </a:p>
          <a:p>
            <a:pPr algn="l">
              <a:spcAft>
                <a:spcPts val="0"/>
              </a:spcAft>
            </a:pPr>
            <a:r>
              <a:rPr sz="1050" b="0">
                <a:solidFill>
                  <a:srgbClr val="7D786C"/>
                </a:solidFill>
                <a:latin typeface="Bahnschrift"/>
              </a:rPr>
              <a:t>Rohith Krishna A K (25BCE2027)  ·  Jaidev A (25BCE0971)</a:t>
            </a:r>
          </a:p>
          <a:p>
            <a:pPr algn="l">
              <a:spcAft>
                <a:spcPts val="0"/>
              </a:spcAft>
            </a:pPr>
            <a:r>
              <a:rPr sz="1050" b="0">
                <a:solidFill>
                  <a:srgbClr val="7D786C"/>
                </a:solidFill>
                <a:latin typeface="Bahnschrift"/>
              </a:rPr>
              <a:t>Guide: Dr. Jaffino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02</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1473174"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§02  </a:t>
            </a:r>
            <a:r>
              <a:rPr sz="1100" b="1" spc="220">
                <a:solidFill>
                  <a:srgbClr val="E0442A"/>
                </a:solidFill>
                <a:latin typeface="Bahnschrift SemiCondensed"/>
              </a:rPr>
              <a:t>THE PROBLEM</a:t>
            </a:r>
          </a:p>
        </p:txBody>
      </p:sp>
      <p:sp>
        <p:nvSpPr>
          <p:cNvPr id="10" name="!!title"/>
          <p:cNvSpPr txBox="1"/>
          <p:nvPr/>
        </p:nvSpPr>
        <p:spPr>
          <a:xfrm>
            <a:off x="548640" y="1261872"/>
            <a:ext cx="6583680" cy="1280160"/>
          </a:xfrm>
          <a:prstGeom prst="rect">
            <a:avLst/>
          </a:prstGeom>
          <a:noFill/>
        </p:spPr>
        <p:txBody>
          <a:bodyPr wrap="square" lIns="0" rIns="0" tIns="0" bIns="0" anchor="t">
            <a:spAutoFit/>
          </a:bodyPr>
          <a:lstStyle/>
          <a:p>
            <a:pPr algn="l">
              <a:lnSpc>
                <a:spcPct val="92000"/>
              </a:lnSpc>
              <a:spcAft>
                <a:spcPts val="0"/>
              </a:spcAft>
            </a:pPr>
            <a:r>
              <a:rPr sz="3800" b="0">
                <a:solidFill>
                  <a:srgbClr val="1F2226"/>
                </a:solidFill>
                <a:latin typeface="Bahnschrift SemiBold"/>
              </a:rPr>
              <a:t>Pickers walk more
than they pick.</a:t>
            </a:r>
          </a:p>
        </p:txBody>
      </p:sp>
      <p:pic>
        <p:nvPicPr>
          <p:cNvPr id="11" name="!!hero" descr="route_original.jpg"/>
          <p:cNvPicPr>
            <a:picLocks noChangeAspect="1"/>
          </p:cNvPicPr>
          <p:nvPr/>
        </p:nvPicPr>
        <p:blipFill>
          <a:blip r:embed="rId3"/>
          <a:stretch>
            <a:fillRect/>
          </a:stretch>
        </p:blipFill>
        <p:spPr>
          <a:xfrm>
            <a:off x="5440680" y="777240"/>
            <a:ext cx="6583680" cy="4114800"/>
          </a:xfrm>
          <a:prstGeom prst="rect">
            <a:avLst/>
          </a:prstGeom>
        </p:spPr>
      </p:pic>
      <p:sp>
        <p:nvSpPr>
          <p:cNvPr id="12" name="TextBox 11"/>
          <p:cNvSpPr txBox="1"/>
          <p:nvPr/>
        </p:nvSpPr>
        <p:spPr>
          <a:xfrm>
            <a:off x="548640" y="2606040"/>
            <a:ext cx="2743200" cy="1310640"/>
          </a:xfrm>
          <a:prstGeom prst="rect">
            <a:avLst/>
          </a:prstGeom>
          <a:noFill/>
        </p:spPr>
        <p:txBody>
          <a:bodyPr wrap="square" lIns="0" rIns="0" tIns="0" bIns="0" anchor="t">
            <a:spAutoFit/>
          </a:bodyPr>
          <a:lstStyle/>
          <a:p>
            <a:pPr algn="l">
              <a:spcAft>
                <a:spcPts val="0"/>
              </a:spcAft>
            </a:pPr>
            <a:r>
              <a:rPr sz="9600" b="0">
                <a:solidFill>
                  <a:srgbClr val="E0442A"/>
                </a:solidFill>
                <a:latin typeface="Bahnschrift Light"/>
              </a:rPr>
              <a:t>53%</a:t>
            </a:r>
          </a:p>
        </p:txBody>
      </p:sp>
      <p:sp>
        <p:nvSpPr>
          <p:cNvPr id="13" name="TextBox 12"/>
          <p:cNvSpPr txBox="1"/>
          <p:nvPr/>
        </p:nvSpPr>
        <p:spPr>
          <a:xfrm>
            <a:off x="548640" y="3934968"/>
            <a:ext cx="2743200" cy="548640"/>
          </a:xfrm>
          <a:prstGeom prst="rect">
            <a:avLst/>
          </a:prstGeom>
          <a:noFill/>
        </p:spPr>
        <p:txBody>
          <a:bodyPr wrap="square" lIns="0" rIns="0" tIns="0" bIns="0" anchor="t">
            <a:spAutoFit/>
          </a:bodyPr>
          <a:lstStyle/>
          <a:p>
            <a:pPr algn="l">
              <a:lnSpc>
                <a:spcPct val="110000"/>
              </a:lnSpc>
              <a:spcAft>
                <a:spcPts val="0"/>
              </a:spcAft>
            </a:pPr>
            <a:r>
              <a:rPr sz="1250" b="0">
                <a:solidFill>
                  <a:srgbClr val="4A4D52"/>
                </a:solidFill>
                <a:latin typeface="Bahnschrift"/>
              </a:rPr>
              <a:t>of every order’s time is walking</a:t>
            </a:r>
          </a:p>
        </p:txBody>
      </p:sp>
      <p:sp>
        <p:nvSpPr>
          <p:cNvPr id="14" name="Rectangle 13"/>
          <p:cNvSpPr/>
          <p:nvPr/>
        </p:nvSpPr>
        <p:spPr>
          <a:xfrm>
            <a:off x="548640" y="4526280"/>
            <a:ext cx="2359761" cy="384048"/>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08401" y="4526280"/>
            <a:ext cx="2120798" cy="384048"/>
          </a:xfrm>
          <a:prstGeom prst="rect">
            <a:avLst/>
          </a:prstGeom>
          <a:noFill/>
          <a:ln w="12700">
            <a:solidFill>
              <a:srgbClr val="1F22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526280"/>
            <a:ext cx="2194560" cy="384048"/>
          </a:xfrm>
          <a:prstGeom prst="rect">
            <a:avLst/>
          </a:prstGeom>
          <a:noFill/>
        </p:spPr>
        <p:txBody>
          <a:bodyPr wrap="square" lIns="0" rIns="0" tIns="0" bIns="0" anchor="ctr">
            <a:spAutoFit/>
          </a:bodyPr>
          <a:lstStyle/>
          <a:p>
            <a:pPr algn="l">
              <a:spcAft>
                <a:spcPts val="0"/>
              </a:spcAft>
            </a:pPr>
            <a:r>
              <a:rPr sz="1200" b="0">
                <a:solidFill>
                  <a:srgbClr val="F1EADB"/>
                </a:solidFill>
                <a:latin typeface="Bahnschrift SemiBold"/>
              </a:rPr>
              <a:t>79 s walking</a:t>
            </a:r>
          </a:p>
        </p:txBody>
      </p:sp>
      <p:sp>
        <p:nvSpPr>
          <p:cNvPr id="17" name="TextBox 16"/>
          <p:cNvSpPr txBox="1"/>
          <p:nvPr/>
        </p:nvSpPr>
        <p:spPr>
          <a:xfrm>
            <a:off x="3018129" y="4526280"/>
            <a:ext cx="2011680" cy="384048"/>
          </a:xfrm>
          <a:prstGeom prst="rect">
            <a:avLst/>
          </a:prstGeom>
          <a:noFill/>
        </p:spPr>
        <p:txBody>
          <a:bodyPr wrap="square" lIns="0" rIns="0" tIns="0" bIns="0" anchor="ctr">
            <a:spAutoFit/>
          </a:bodyPr>
          <a:lstStyle/>
          <a:p>
            <a:pPr algn="l">
              <a:spcAft>
                <a:spcPts val="0"/>
              </a:spcAft>
            </a:pPr>
            <a:r>
              <a:rPr sz="1200" b="0">
                <a:solidFill>
                  <a:srgbClr val="1F2226"/>
                </a:solidFill>
                <a:latin typeface="Bahnschrift SemiBold"/>
              </a:rPr>
              <a:t>71 s picking</a:t>
            </a:r>
          </a:p>
        </p:txBody>
      </p:sp>
      <p:sp>
        <p:nvSpPr>
          <p:cNvPr id="18" name="TextBox 17"/>
          <p:cNvSpPr txBox="1"/>
          <p:nvPr/>
        </p:nvSpPr>
        <p:spPr>
          <a:xfrm>
            <a:off x="548640" y="5010912"/>
            <a:ext cx="4572000" cy="274320"/>
          </a:xfrm>
          <a:prstGeom prst="rect">
            <a:avLst/>
          </a:prstGeom>
          <a:noFill/>
        </p:spPr>
        <p:txBody>
          <a:bodyPr wrap="square" lIns="0" rIns="0" tIns="0" bIns="0" anchor="t">
            <a:spAutoFit/>
          </a:bodyPr>
          <a:lstStyle/>
          <a:p>
            <a:pPr algn="l">
              <a:spcAft>
                <a:spcPts val="0"/>
              </a:spcAft>
            </a:pPr>
            <a:r>
              <a:rPr sz="1000" b="0">
                <a:solidFill>
                  <a:srgbClr val="7D786C"/>
                </a:solidFill>
                <a:latin typeface="Cascadia Mono"/>
              </a:rPr>
              <a:t>Per order, 1.2 m/s walking, 10 s per line</a:t>
            </a:r>
          </a:p>
        </p:txBody>
      </p:sp>
      <p:sp>
        <p:nvSpPr>
          <p:cNvPr id="19" name="TextBox 18"/>
          <p:cNvSpPr txBox="1"/>
          <p:nvPr/>
        </p:nvSpPr>
        <p:spPr>
          <a:xfrm>
            <a:off x="548640" y="5440680"/>
            <a:ext cx="4572000" cy="731520"/>
          </a:xfrm>
          <a:prstGeom prst="rect">
            <a:avLst/>
          </a:prstGeom>
          <a:noFill/>
        </p:spPr>
        <p:txBody>
          <a:bodyPr wrap="square" lIns="0" rIns="0" tIns="0" bIns="0" anchor="t">
            <a:spAutoFit/>
          </a:bodyPr>
          <a:lstStyle/>
          <a:p>
            <a:pPr algn="l">
              <a:spcAft>
                <a:spcPts val="0"/>
              </a:spcAft>
            </a:pPr>
            <a:r>
              <a:rPr sz="1300" b="0">
                <a:solidFill>
                  <a:srgbClr val="1F2226"/>
                </a:solidFill>
                <a:latin typeface="Bahnschrift SemiBold"/>
              </a:rPr>
              <a:t>218 km</a:t>
            </a:r>
            <a:r>
              <a:rPr sz="1300" b="0">
                <a:solidFill>
                  <a:srgbClr val="4A4D52"/>
                </a:solidFill>
                <a:latin typeface="Bahnschrift"/>
              </a:rPr>
              <a:t> walked in one month by a single picker in a 100-slot zone.</a:t>
            </a:r>
          </a:p>
        </p:txBody>
      </p:sp>
      <p:sp>
        <p:nvSpPr>
          <p:cNvPr id="20" name="TextBox 19"/>
          <p:cNvSpPr txBox="1"/>
          <p:nvPr/>
        </p:nvSpPr>
        <p:spPr>
          <a:xfrm>
            <a:off x="5806440" y="5806440"/>
            <a:ext cx="5852160" cy="411480"/>
          </a:xfrm>
          <a:prstGeom prst="rect">
            <a:avLst/>
          </a:prstGeom>
          <a:noFill/>
        </p:spPr>
        <p:txBody>
          <a:bodyPr wrap="square" lIns="0" rIns="0" tIns="0" bIns="0" anchor="t">
            <a:spAutoFit/>
          </a:bodyPr>
          <a:lstStyle/>
          <a:p>
            <a:pPr algn="r">
              <a:spcAft>
                <a:spcPts val="0"/>
              </a:spcAft>
            </a:pPr>
            <a:r>
              <a:rPr sz="1050" b="0">
                <a:solidFill>
                  <a:srgbClr val="1F2226"/>
                </a:solidFill>
                <a:latin typeface="Bahnschrift SemiBold"/>
              </a:rPr>
              <a:t>Invoice 532964 · 9 lines</a:t>
            </a:r>
            <a:r>
              <a:rPr sz="1050" b="0">
                <a:solidFill>
                  <a:srgbClr val="4A4D52"/>
                </a:solidFill>
                <a:latin typeface="Bahnschrift"/>
              </a:rPr>
              <a:t>  on the as-received layout: 143 m through all 5 aisles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03</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2397709"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§03  </a:t>
            </a:r>
            <a:r>
              <a:rPr sz="1100" b="1" spc="220">
                <a:solidFill>
                  <a:srgbClr val="E0442A"/>
                </a:solidFill>
                <a:latin typeface="Bahnschrift SemiCondensed"/>
              </a:rPr>
              <a:t>THE DATA</a:t>
            </a:r>
          </a:p>
        </p:txBody>
      </p:sp>
      <p:sp>
        <p:nvSpPr>
          <p:cNvPr id="10" name="!!title"/>
          <p:cNvSpPr txBox="1"/>
          <p:nvPr/>
        </p:nvSpPr>
        <p:spPr>
          <a:xfrm>
            <a:off x="548640" y="1261872"/>
            <a:ext cx="10058400" cy="1280160"/>
          </a:xfrm>
          <a:prstGeom prst="rect">
            <a:avLst/>
          </a:prstGeom>
          <a:noFill/>
        </p:spPr>
        <p:txBody>
          <a:bodyPr wrap="square" lIns="0" rIns="0" tIns="0" bIns="0" anchor="t">
            <a:spAutoFit/>
          </a:bodyPr>
          <a:lstStyle/>
          <a:p>
            <a:pPr algn="l">
              <a:lnSpc>
                <a:spcPct val="92000"/>
              </a:lnSpc>
              <a:spcAft>
                <a:spcPts val="0"/>
              </a:spcAft>
            </a:pPr>
            <a:r>
              <a:rPr sz="3800" b="0">
                <a:solidFill>
                  <a:srgbClr val="1F2226"/>
                </a:solidFill>
                <a:latin typeface="Bahnschrift SemiBold"/>
              </a:rPr>
              <a:t>Built on 2,293 real customer orders</a:t>
            </a:r>
          </a:p>
        </p:txBody>
      </p:sp>
      <p:sp>
        <p:nvSpPr>
          <p:cNvPr id="11" name="!!body"/>
          <p:cNvSpPr txBox="1"/>
          <p:nvPr/>
        </p:nvSpPr>
        <p:spPr>
          <a:xfrm>
            <a:off x="548640" y="1920240"/>
            <a:ext cx="8229600" cy="1280160"/>
          </a:xfrm>
          <a:prstGeom prst="rect">
            <a:avLst/>
          </a:prstGeom>
          <a:noFill/>
        </p:spPr>
        <p:txBody>
          <a:bodyPr wrap="square" lIns="0" rIns="0" tIns="0" bIns="0" anchor="t">
            <a:spAutoFit/>
          </a:bodyPr>
          <a:lstStyle/>
          <a:p>
            <a:pPr algn="l">
              <a:lnSpc>
                <a:spcPct val="112000"/>
              </a:lnSpc>
              <a:spcAft>
                <a:spcPts val="0"/>
              </a:spcAft>
            </a:pPr>
            <a:r>
              <a:rPr sz="1450" b="0">
                <a:solidFill>
                  <a:srgbClr val="4A4D52"/>
                </a:solidFill>
                <a:latin typeface="Bahnschrift"/>
              </a:rPr>
              <a:t>Online Retail II (UCI, CC BY 4.0): a UK gift wholesaler, November 2010, the pre-Christmas peak.</a:t>
            </a:r>
          </a:p>
        </p:txBody>
      </p:sp>
      <p:sp>
        <p:nvSpPr>
          <p:cNvPr id="12" name="Rectangle 11"/>
          <p:cNvSpPr/>
          <p:nvPr/>
        </p:nvSpPr>
        <p:spPr>
          <a:xfrm>
            <a:off x="548640" y="2788920"/>
            <a:ext cx="676656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16936"/>
            <a:ext cx="2377440" cy="457200"/>
          </a:xfrm>
          <a:prstGeom prst="rect">
            <a:avLst/>
          </a:prstGeom>
          <a:noFill/>
        </p:spPr>
        <p:txBody>
          <a:bodyPr wrap="square" lIns="0" rIns="0" tIns="0" bIns="0" anchor="t">
            <a:spAutoFit/>
          </a:bodyPr>
          <a:lstStyle/>
          <a:p>
            <a:pPr algn="l">
              <a:spcAft>
                <a:spcPts val="0"/>
              </a:spcAft>
            </a:pPr>
            <a:r>
              <a:rPr sz="1250" b="0">
                <a:solidFill>
                  <a:srgbClr val="4A4D52"/>
                </a:solidFill>
                <a:latin typeface="Bahnschrift"/>
              </a:rPr>
              <a:t>Raw order lines</a:t>
            </a:r>
          </a:p>
        </p:txBody>
      </p:sp>
      <p:sp>
        <p:nvSpPr>
          <p:cNvPr id="14" name="Rectangle 13"/>
          <p:cNvSpPr/>
          <p:nvPr/>
        </p:nvSpPr>
        <p:spPr>
          <a:xfrm>
            <a:off x="3063240" y="2971800"/>
            <a:ext cx="3154679" cy="329184"/>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2944368"/>
            <a:ext cx="1005840" cy="365760"/>
          </a:xfrm>
          <a:prstGeom prst="rect">
            <a:avLst/>
          </a:prstGeom>
          <a:noFill/>
        </p:spPr>
        <p:txBody>
          <a:bodyPr wrap="square" lIns="0" rIns="0" tIns="0" bIns="0" anchor="t">
            <a:spAutoFit/>
          </a:bodyPr>
          <a:lstStyle/>
          <a:p>
            <a:pPr algn="r">
              <a:spcAft>
                <a:spcPts val="0"/>
              </a:spcAft>
            </a:pPr>
            <a:r>
              <a:rPr sz="1350" b="0">
                <a:solidFill>
                  <a:srgbClr val="1F2226"/>
                </a:solidFill>
                <a:latin typeface="Cascadia Mono"/>
              </a:rPr>
              <a:t>76,584</a:t>
            </a:r>
          </a:p>
        </p:txBody>
      </p:sp>
      <p:sp>
        <p:nvSpPr>
          <p:cNvPr id="16" name="Rectangle 15"/>
          <p:cNvSpPr/>
          <p:nvPr/>
        </p:nvSpPr>
        <p:spPr>
          <a:xfrm>
            <a:off x="548640" y="3502152"/>
            <a:ext cx="67665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30168"/>
            <a:ext cx="2377440" cy="457200"/>
          </a:xfrm>
          <a:prstGeom prst="rect">
            <a:avLst/>
          </a:prstGeom>
          <a:noFill/>
        </p:spPr>
        <p:txBody>
          <a:bodyPr wrap="square" lIns="0" rIns="0" tIns="0" bIns="0" anchor="t">
            <a:spAutoFit/>
          </a:bodyPr>
          <a:lstStyle/>
          <a:p>
            <a:pPr algn="l">
              <a:spcAft>
                <a:spcPts val="0"/>
              </a:spcAft>
            </a:pPr>
            <a:r>
              <a:rPr sz="1250" b="0">
                <a:solidFill>
                  <a:srgbClr val="4A4D52"/>
                </a:solidFill>
                <a:latin typeface="Bahnschrift"/>
              </a:rPr>
              <a:t>Clean pick lines</a:t>
            </a:r>
          </a:p>
        </p:txBody>
      </p:sp>
      <p:sp>
        <p:nvSpPr>
          <p:cNvPr id="18" name="Rectangle 17"/>
          <p:cNvSpPr/>
          <p:nvPr/>
        </p:nvSpPr>
        <p:spPr>
          <a:xfrm>
            <a:off x="3063240" y="3685032"/>
            <a:ext cx="3079421" cy="329184"/>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59" y="3657600"/>
            <a:ext cx="1005840" cy="365760"/>
          </a:xfrm>
          <a:prstGeom prst="rect">
            <a:avLst/>
          </a:prstGeom>
          <a:noFill/>
        </p:spPr>
        <p:txBody>
          <a:bodyPr wrap="square" lIns="0" rIns="0" tIns="0" bIns="0" anchor="t">
            <a:spAutoFit/>
          </a:bodyPr>
          <a:lstStyle/>
          <a:p>
            <a:pPr algn="r">
              <a:spcAft>
                <a:spcPts val="0"/>
              </a:spcAft>
            </a:pPr>
            <a:r>
              <a:rPr sz="1350" b="0">
                <a:solidFill>
                  <a:srgbClr val="1F2226"/>
                </a:solidFill>
                <a:latin typeface="Cascadia Mono"/>
              </a:rPr>
              <a:t>74,757</a:t>
            </a:r>
          </a:p>
        </p:txBody>
      </p:sp>
      <p:sp>
        <p:nvSpPr>
          <p:cNvPr id="20" name="Rectangle 19"/>
          <p:cNvSpPr/>
          <p:nvPr/>
        </p:nvSpPr>
        <p:spPr>
          <a:xfrm>
            <a:off x="548640" y="4215384"/>
            <a:ext cx="67665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343399"/>
            <a:ext cx="2377440" cy="457200"/>
          </a:xfrm>
          <a:prstGeom prst="rect">
            <a:avLst/>
          </a:prstGeom>
          <a:noFill/>
        </p:spPr>
        <p:txBody>
          <a:bodyPr wrap="square" lIns="0" rIns="0" tIns="0" bIns="0" anchor="t">
            <a:spAutoFit/>
          </a:bodyPr>
          <a:lstStyle/>
          <a:p>
            <a:pPr algn="l">
              <a:spcAft>
                <a:spcPts val="0"/>
              </a:spcAft>
            </a:pPr>
            <a:r>
              <a:rPr sz="1250" b="0">
                <a:solidFill>
                  <a:srgbClr val="4A4D52"/>
                </a:solidFill>
                <a:latin typeface="Bahnschrift"/>
              </a:rPr>
              <a:t>Lines on the top 100 products</a:t>
            </a:r>
          </a:p>
        </p:txBody>
      </p:sp>
      <p:sp>
        <p:nvSpPr>
          <p:cNvPr id="22" name="Rectangle 21"/>
          <p:cNvSpPr/>
          <p:nvPr/>
        </p:nvSpPr>
        <p:spPr>
          <a:xfrm>
            <a:off x="3063240" y="4398264"/>
            <a:ext cx="668346" cy="329184"/>
          </a:xfrm>
          <a:prstGeom prst="rect">
            <a:avLst/>
          </a:prstGeom>
          <a:solidFill>
            <a:srgbClr val="4A4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59" y="4370831"/>
            <a:ext cx="1005840" cy="365760"/>
          </a:xfrm>
          <a:prstGeom prst="rect">
            <a:avLst/>
          </a:prstGeom>
          <a:noFill/>
        </p:spPr>
        <p:txBody>
          <a:bodyPr wrap="square" lIns="0" rIns="0" tIns="0" bIns="0" anchor="t">
            <a:spAutoFit/>
          </a:bodyPr>
          <a:lstStyle/>
          <a:p>
            <a:pPr algn="r">
              <a:spcAft>
                <a:spcPts val="0"/>
              </a:spcAft>
            </a:pPr>
            <a:r>
              <a:rPr sz="1350" b="0">
                <a:solidFill>
                  <a:srgbClr val="1F2226"/>
                </a:solidFill>
                <a:latin typeface="Cascadia Mono"/>
              </a:rPr>
              <a:t>16,225</a:t>
            </a:r>
          </a:p>
        </p:txBody>
      </p:sp>
      <p:sp>
        <p:nvSpPr>
          <p:cNvPr id="24" name="Rectangle 23"/>
          <p:cNvSpPr/>
          <p:nvPr/>
        </p:nvSpPr>
        <p:spPr>
          <a:xfrm>
            <a:off x="548640" y="4928616"/>
            <a:ext cx="67665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56631"/>
            <a:ext cx="2377440" cy="457200"/>
          </a:xfrm>
          <a:prstGeom prst="rect">
            <a:avLst/>
          </a:prstGeom>
          <a:noFill/>
        </p:spPr>
        <p:txBody>
          <a:bodyPr wrap="square" lIns="0" rIns="0" tIns="0" bIns="0" anchor="t">
            <a:spAutoFit/>
          </a:bodyPr>
          <a:lstStyle/>
          <a:p>
            <a:pPr algn="l">
              <a:spcAft>
                <a:spcPts val="0"/>
              </a:spcAft>
            </a:pPr>
            <a:r>
              <a:rPr sz="1250" b="0">
                <a:solidFill>
                  <a:srgbClr val="1F2226"/>
                </a:solidFill>
                <a:latin typeface="Bahnschrift SemiBold"/>
              </a:rPr>
              <a:t>Real orders replayed</a:t>
            </a:r>
          </a:p>
        </p:txBody>
      </p:sp>
      <p:sp>
        <p:nvSpPr>
          <p:cNvPr id="26" name="Rectangle 25"/>
          <p:cNvSpPr/>
          <p:nvPr/>
        </p:nvSpPr>
        <p:spPr>
          <a:xfrm>
            <a:off x="3063240" y="5111496"/>
            <a:ext cx="94454" cy="329184"/>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5084064"/>
            <a:ext cx="1005840" cy="365760"/>
          </a:xfrm>
          <a:prstGeom prst="rect">
            <a:avLst/>
          </a:prstGeom>
          <a:noFill/>
        </p:spPr>
        <p:txBody>
          <a:bodyPr wrap="square" lIns="0" rIns="0" tIns="0" bIns="0" anchor="t">
            <a:spAutoFit/>
          </a:bodyPr>
          <a:lstStyle/>
          <a:p>
            <a:pPr algn="r">
              <a:spcAft>
                <a:spcPts val="0"/>
              </a:spcAft>
            </a:pPr>
            <a:r>
              <a:rPr sz="1350" b="0">
                <a:solidFill>
                  <a:srgbClr val="E0442A"/>
                </a:solidFill>
                <a:latin typeface="Cascadia Mono"/>
              </a:rPr>
              <a:t>2,293</a:t>
            </a:r>
          </a:p>
        </p:txBody>
      </p:sp>
      <p:sp>
        <p:nvSpPr>
          <p:cNvPr id="28" name="Rectangle 27"/>
          <p:cNvSpPr/>
          <p:nvPr/>
        </p:nvSpPr>
        <p:spPr>
          <a:xfrm>
            <a:off x="548640" y="5641848"/>
            <a:ext cx="67665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63240" y="3319272"/>
            <a:ext cx="3657600" cy="182880"/>
          </a:xfrm>
          <a:prstGeom prst="rect">
            <a:avLst/>
          </a:prstGeom>
          <a:noFill/>
        </p:spPr>
        <p:txBody>
          <a:bodyPr wrap="square" lIns="0" rIns="0" tIns="0" bIns="0" anchor="t">
            <a:spAutoFit/>
          </a:bodyPr>
          <a:lstStyle/>
          <a:p>
            <a:pPr algn="l">
              <a:spcAft>
                <a:spcPts val="0"/>
              </a:spcAft>
            </a:pPr>
            <a:r>
              <a:rPr sz="800" b="0">
                <a:solidFill>
                  <a:srgbClr val="7D786C"/>
                </a:solidFill>
                <a:latin typeface="Cascadia Mono"/>
              </a:rPr>
              <a:t>−1,192 cancelled</a:t>
            </a:r>
          </a:p>
        </p:txBody>
      </p:sp>
      <p:sp>
        <p:nvSpPr>
          <p:cNvPr id="30" name="TextBox 29"/>
          <p:cNvSpPr txBox="1"/>
          <p:nvPr/>
        </p:nvSpPr>
        <p:spPr>
          <a:xfrm>
            <a:off x="3063240" y="4032504"/>
            <a:ext cx="3657600" cy="182880"/>
          </a:xfrm>
          <a:prstGeom prst="rect">
            <a:avLst/>
          </a:prstGeom>
          <a:noFill/>
        </p:spPr>
        <p:txBody>
          <a:bodyPr wrap="square" lIns="0" rIns="0" tIns="0" bIns="0" anchor="t">
            <a:spAutoFit/>
          </a:bodyPr>
          <a:lstStyle/>
          <a:p>
            <a:pPr algn="l">
              <a:spcAft>
                <a:spcPts val="0"/>
              </a:spcAft>
            </a:pPr>
            <a:r>
              <a:rPr sz="800" b="0">
                <a:solidFill>
                  <a:srgbClr val="7D786C"/>
                </a:solidFill>
                <a:latin typeface="Cascadia Mono"/>
              </a:rPr>
              <a:t>−282 postage &amp; fees · −353 invalid</a:t>
            </a:r>
          </a:p>
        </p:txBody>
      </p:sp>
      <p:sp>
        <p:nvSpPr>
          <p:cNvPr id="31" name="TextBox 30"/>
          <p:cNvSpPr txBox="1"/>
          <p:nvPr/>
        </p:nvSpPr>
        <p:spPr>
          <a:xfrm>
            <a:off x="3063240" y="4745736"/>
            <a:ext cx="3657600" cy="182880"/>
          </a:xfrm>
          <a:prstGeom prst="rect">
            <a:avLst/>
          </a:prstGeom>
          <a:noFill/>
        </p:spPr>
        <p:txBody>
          <a:bodyPr wrap="square" lIns="0" rIns="0" tIns="0" bIns="0" anchor="t">
            <a:spAutoFit/>
          </a:bodyPr>
          <a:lstStyle/>
          <a:p>
            <a:pPr algn="l">
              <a:spcAft>
                <a:spcPts val="0"/>
              </a:spcAft>
            </a:pPr>
            <a:r>
              <a:rPr sz="800" b="0">
                <a:solidFill>
                  <a:srgbClr val="7D786C"/>
                </a:solidFill>
                <a:latin typeface="Cascadia Mono"/>
              </a:rPr>
              <a:t>top 100 of 3,018 products</a:t>
            </a:r>
          </a:p>
        </p:txBody>
      </p:sp>
      <p:sp>
        <p:nvSpPr>
          <p:cNvPr id="32" name="TextBox 31"/>
          <p:cNvSpPr txBox="1"/>
          <p:nvPr/>
        </p:nvSpPr>
        <p:spPr>
          <a:xfrm>
            <a:off x="3063240" y="5458968"/>
            <a:ext cx="3657600" cy="182880"/>
          </a:xfrm>
          <a:prstGeom prst="rect">
            <a:avLst/>
          </a:prstGeom>
          <a:noFill/>
        </p:spPr>
        <p:txBody>
          <a:bodyPr wrap="square" lIns="0" rIns="0" tIns="0" bIns="0" anchor="t">
            <a:spAutoFit/>
          </a:bodyPr>
          <a:lstStyle/>
          <a:p>
            <a:pPr algn="l">
              <a:spcAft>
                <a:spcPts val="0"/>
              </a:spcAft>
            </a:pPr>
            <a:r>
              <a:rPr sz="800" b="0">
                <a:solidFill>
                  <a:srgbClr val="7D786C"/>
                </a:solidFill>
                <a:latin typeface="Cascadia Mono"/>
              </a:rPr>
              <a:t>7.1 lines per order</a:t>
            </a:r>
          </a:p>
        </p:txBody>
      </p:sp>
      <p:sp>
        <p:nvSpPr>
          <p:cNvPr id="33" name="TextBox 32"/>
          <p:cNvSpPr txBox="1"/>
          <p:nvPr/>
        </p:nvSpPr>
        <p:spPr>
          <a:xfrm>
            <a:off x="8001000" y="2697480"/>
            <a:ext cx="3657600" cy="1107440"/>
          </a:xfrm>
          <a:prstGeom prst="rect">
            <a:avLst/>
          </a:prstGeom>
          <a:noFill/>
        </p:spPr>
        <p:txBody>
          <a:bodyPr wrap="square" lIns="0" rIns="0" tIns="0" bIns="0" anchor="t">
            <a:spAutoFit/>
          </a:bodyPr>
          <a:lstStyle/>
          <a:p>
            <a:pPr algn="l">
              <a:spcAft>
                <a:spcPts val="0"/>
              </a:spcAft>
            </a:pPr>
            <a:r>
              <a:rPr sz="8000" b="0">
                <a:solidFill>
                  <a:srgbClr val="E0442A"/>
                </a:solidFill>
                <a:latin typeface="Bahnschrift Light"/>
              </a:rPr>
              <a:t>2,293</a:t>
            </a:r>
          </a:p>
        </p:txBody>
      </p:sp>
      <p:sp>
        <p:nvSpPr>
          <p:cNvPr id="34" name="TextBox 33"/>
          <p:cNvSpPr txBox="1"/>
          <p:nvPr/>
        </p:nvSpPr>
        <p:spPr>
          <a:xfrm>
            <a:off x="8001000" y="3823208"/>
            <a:ext cx="3657600" cy="548640"/>
          </a:xfrm>
          <a:prstGeom prst="rect">
            <a:avLst/>
          </a:prstGeom>
          <a:noFill/>
        </p:spPr>
        <p:txBody>
          <a:bodyPr wrap="square" lIns="0" rIns="0" tIns="0" bIns="0" anchor="t">
            <a:spAutoFit/>
          </a:bodyPr>
          <a:lstStyle/>
          <a:p>
            <a:pPr algn="l">
              <a:lnSpc>
                <a:spcPct val="110000"/>
              </a:lnSpc>
              <a:spcAft>
                <a:spcPts val="0"/>
              </a:spcAft>
            </a:pPr>
            <a:r>
              <a:rPr sz="1400" b="0">
                <a:solidFill>
                  <a:srgbClr val="4A4D52"/>
                </a:solidFill>
                <a:latin typeface="Bahnschrift"/>
              </a:rPr>
              <a:t>real orders, replayed line by line</a:t>
            </a:r>
          </a:p>
        </p:txBody>
      </p:sp>
      <p:sp>
        <p:nvSpPr>
          <p:cNvPr id="35" name="TextBox 34"/>
          <p:cNvSpPr txBox="1"/>
          <p:nvPr/>
        </p:nvSpPr>
        <p:spPr>
          <a:xfrm>
            <a:off x="8001000" y="4343400"/>
            <a:ext cx="3566160" cy="1463040"/>
          </a:xfrm>
          <a:prstGeom prst="rect">
            <a:avLst/>
          </a:prstGeom>
          <a:noFill/>
        </p:spPr>
        <p:txBody>
          <a:bodyPr wrap="square" lIns="0" rIns="0" tIns="0" bIns="0" anchor="t">
            <a:spAutoFit/>
          </a:bodyPr>
          <a:lstStyle/>
          <a:p>
            <a:pPr algn="l">
              <a:lnSpc>
                <a:spcPct val="115000"/>
              </a:lnSpc>
              <a:spcAft>
                <a:spcPts val="0"/>
              </a:spcAft>
            </a:pPr>
            <a:r>
              <a:rPr sz="1300" b="0">
                <a:solidFill>
                  <a:srgbClr val="1F2226"/>
                </a:solidFill>
                <a:latin typeface="Bahnschrift SemiBold"/>
              </a:rPr>
              <a:t>3%</a:t>
            </a:r>
            <a:r>
              <a:rPr sz="1300" b="0">
                <a:solidFill>
                  <a:srgbClr val="4A4D52"/>
                </a:solidFill>
                <a:latin typeface="Bahnschrift"/>
              </a:rPr>
              <a:t> of the product range carries </a:t>
            </a:r>
            <a:r>
              <a:rPr sz="1300" b="0">
                <a:solidFill>
                  <a:srgbClr val="1F2226"/>
                </a:solidFill>
                <a:latin typeface="Bahnschrift SemiBold"/>
              </a:rPr>
              <a:t>22%</a:t>
            </a:r>
            <a:r>
              <a:rPr sz="1300" b="0">
                <a:solidFill>
                  <a:srgbClr val="4A4D52"/>
                </a:solidFill>
                <a:latin typeface="Bahnschrift"/>
              </a:rPr>
              <a:t> of all picks. A pick is one order line: walking depends on visits, not on quantity.</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04</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3322243"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§04  </a:t>
            </a:r>
            <a:r>
              <a:rPr sz="1100" b="1" spc="220">
                <a:solidFill>
                  <a:srgbClr val="E0442A"/>
                </a:solidFill>
                <a:latin typeface="Bahnschrift SemiCondensed"/>
              </a:rPr>
              <a:t>HOW IT WORKS</a:t>
            </a:r>
          </a:p>
        </p:txBody>
      </p:sp>
      <p:sp>
        <p:nvSpPr>
          <p:cNvPr id="10" name="!!title"/>
          <p:cNvSpPr txBox="1"/>
          <p:nvPr/>
        </p:nvSpPr>
        <p:spPr>
          <a:xfrm>
            <a:off x="548640" y="1261872"/>
            <a:ext cx="10058400" cy="1280160"/>
          </a:xfrm>
          <a:prstGeom prst="rect">
            <a:avLst/>
          </a:prstGeom>
          <a:noFill/>
        </p:spPr>
        <p:txBody>
          <a:bodyPr wrap="square" lIns="0" rIns="0" tIns="0" bIns="0" anchor="t">
            <a:spAutoFit/>
          </a:bodyPr>
          <a:lstStyle/>
          <a:p>
            <a:pPr algn="l">
              <a:lnSpc>
                <a:spcPct val="92000"/>
              </a:lnSpc>
              <a:spcAft>
                <a:spcPts val="0"/>
              </a:spcAft>
            </a:pPr>
            <a:r>
              <a:rPr sz="3800" b="0">
                <a:solidFill>
                  <a:srgbClr val="1F2226"/>
                </a:solidFill>
                <a:latin typeface="Bahnschrift SemiBold"/>
              </a:rPr>
              <a:t>One simulation core, used twice</a:t>
            </a:r>
          </a:p>
        </p:txBody>
      </p:sp>
      <p:sp>
        <p:nvSpPr>
          <p:cNvPr id="11" name="!!body"/>
          <p:cNvSpPr txBox="1"/>
          <p:nvPr/>
        </p:nvSpPr>
        <p:spPr>
          <a:xfrm>
            <a:off x="548640" y="1920240"/>
            <a:ext cx="8229600" cy="1280160"/>
          </a:xfrm>
          <a:prstGeom prst="rect">
            <a:avLst/>
          </a:prstGeom>
          <a:noFill/>
        </p:spPr>
        <p:txBody>
          <a:bodyPr wrap="square" lIns="0" rIns="0" tIns="0" bIns="0" anchor="t">
            <a:spAutoFit/>
          </a:bodyPr>
          <a:lstStyle/>
          <a:p>
            <a:pPr algn="l">
              <a:lnSpc>
                <a:spcPct val="112000"/>
              </a:lnSpc>
              <a:spcAft>
                <a:spcPts val="0"/>
              </a:spcAft>
            </a:pPr>
            <a:r>
              <a:rPr sz="1450" b="0">
                <a:solidFill>
                  <a:srgbClr val="4A4D52"/>
                </a:solidFill>
                <a:latin typeface="Bahnschrift"/>
              </a:rPr>
              <a:t>The optimizer and the live game run the same routing code, so every number on screen is measured, not claimed.</a:t>
            </a:r>
          </a:p>
        </p:txBody>
      </p:sp>
      <p:sp>
        <p:nvSpPr>
          <p:cNvPr id="12" name="Rectangle 11"/>
          <p:cNvSpPr/>
          <p:nvPr/>
        </p:nvSpPr>
        <p:spPr>
          <a:xfrm>
            <a:off x="548640" y="2788920"/>
            <a:ext cx="2545003"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880360"/>
            <a:ext cx="1371600" cy="822960"/>
          </a:xfrm>
          <a:prstGeom prst="rect">
            <a:avLst/>
          </a:prstGeom>
          <a:noFill/>
        </p:spPr>
        <p:txBody>
          <a:bodyPr wrap="square" lIns="0" rIns="0" tIns="0" bIns="0" anchor="t">
            <a:spAutoFit/>
          </a:bodyPr>
          <a:lstStyle/>
          <a:p>
            <a:pPr algn="l">
              <a:spcAft>
                <a:spcPts val="0"/>
              </a:spcAft>
            </a:pPr>
            <a:r>
              <a:rPr sz="4800" b="0">
                <a:solidFill>
                  <a:srgbClr val="E0442A"/>
                </a:solidFill>
                <a:latin typeface="Bahnschrift Light"/>
              </a:rPr>
              <a:t>01</a:t>
            </a:r>
          </a:p>
        </p:txBody>
      </p:sp>
      <p:sp>
        <p:nvSpPr>
          <p:cNvPr id="14" name="TextBox 13"/>
          <p:cNvSpPr txBox="1"/>
          <p:nvPr/>
        </p:nvSpPr>
        <p:spPr>
          <a:xfrm>
            <a:off x="548640" y="3749039"/>
            <a:ext cx="2407843" cy="365760"/>
          </a:xfrm>
          <a:prstGeom prst="rect">
            <a:avLst/>
          </a:prstGeom>
          <a:noFill/>
        </p:spPr>
        <p:txBody>
          <a:bodyPr wrap="square" lIns="0" rIns="0" tIns="0" bIns="0" anchor="t">
            <a:spAutoFit/>
          </a:bodyPr>
          <a:lstStyle/>
          <a:p>
            <a:pPr algn="l">
              <a:spcAft>
                <a:spcPts val="0"/>
              </a:spcAft>
            </a:pPr>
            <a:r>
              <a:rPr sz="1700" b="0">
                <a:solidFill>
                  <a:srgbClr val="1F2226"/>
                </a:solidFill>
                <a:latin typeface="Bahnschrift SemiBold"/>
              </a:rPr>
              <a:t>Clean</a:t>
            </a:r>
          </a:p>
        </p:txBody>
      </p:sp>
      <p:sp>
        <p:nvSpPr>
          <p:cNvPr id="15" name="TextBox 14"/>
          <p:cNvSpPr txBox="1"/>
          <p:nvPr/>
        </p:nvSpPr>
        <p:spPr>
          <a:xfrm>
            <a:off x="548640" y="4160520"/>
            <a:ext cx="2362123" cy="1188720"/>
          </a:xfrm>
          <a:prstGeom prst="rect">
            <a:avLst/>
          </a:prstGeom>
          <a:noFill/>
        </p:spPr>
        <p:txBody>
          <a:bodyPr wrap="square" lIns="0" rIns="0" tIns="0" bIns="0" anchor="t">
            <a:spAutoFit/>
          </a:bodyPr>
          <a:lstStyle/>
          <a:p>
            <a:pPr algn="l">
              <a:lnSpc>
                <a:spcPct val="112000"/>
              </a:lnSpc>
              <a:spcAft>
                <a:spcPts val="0"/>
              </a:spcAft>
            </a:pPr>
            <a:r>
              <a:rPr sz="1250" b="0">
                <a:solidFill>
                  <a:srgbClr val="4A4D52"/>
                </a:solidFill>
                <a:latin typeface="Bahnschrift"/>
              </a:rPr>
              <a:t>pandas turns 76,584 raw lines into 2,293 orders on the top 100 products.</a:t>
            </a:r>
          </a:p>
        </p:txBody>
      </p:sp>
      <p:sp>
        <p:nvSpPr>
          <p:cNvPr id="16" name="Rectangle 15"/>
          <p:cNvSpPr/>
          <p:nvPr/>
        </p:nvSpPr>
        <p:spPr>
          <a:xfrm>
            <a:off x="3322243" y="2788920"/>
            <a:ext cx="2545003"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2243" y="2880360"/>
            <a:ext cx="1371600" cy="822960"/>
          </a:xfrm>
          <a:prstGeom prst="rect">
            <a:avLst/>
          </a:prstGeom>
          <a:noFill/>
        </p:spPr>
        <p:txBody>
          <a:bodyPr wrap="square" lIns="0" rIns="0" tIns="0" bIns="0" anchor="t">
            <a:spAutoFit/>
          </a:bodyPr>
          <a:lstStyle/>
          <a:p>
            <a:pPr algn="l">
              <a:spcAft>
                <a:spcPts val="0"/>
              </a:spcAft>
            </a:pPr>
            <a:r>
              <a:rPr sz="4800" b="0">
                <a:solidFill>
                  <a:srgbClr val="E0442A"/>
                </a:solidFill>
                <a:latin typeface="Bahnschrift Light"/>
              </a:rPr>
              <a:t>02</a:t>
            </a:r>
          </a:p>
        </p:txBody>
      </p:sp>
      <p:sp>
        <p:nvSpPr>
          <p:cNvPr id="18" name="TextBox 17"/>
          <p:cNvSpPr txBox="1"/>
          <p:nvPr/>
        </p:nvSpPr>
        <p:spPr>
          <a:xfrm>
            <a:off x="3322243" y="3749039"/>
            <a:ext cx="2407843" cy="365760"/>
          </a:xfrm>
          <a:prstGeom prst="rect">
            <a:avLst/>
          </a:prstGeom>
          <a:noFill/>
        </p:spPr>
        <p:txBody>
          <a:bodyPr wrap="square" lIns="0" rIns="0" tIns="0" bIns="0" anchor="t">
            <a:spAutoFit/>
          </a:bodyPr>
          <a:lstStyle/>
          <a:p>
            <a:pPr algn="l">
              <a:spcAft>
                <a:spcPts val="0"/>
              </a:spcAft>
            </a:pPr>
            <a:r>
              <a:rPr sz="1700" b="0">
                <a:solidFill>
                  <a:srgbClr val="1F2226"/>
                </a:solidFill>
                <a:latin typeface="Bahnschrift SemiBold"/>
              </a:rPr>
              <a:t>Floor graph</a:t>
            </a:r>
          </a:p>
        </p:txBody>
      </p:sp>
      <p:sp>
        <p:nvSpPr>
          <p:cNvPr id="19" name="TextBox 18"/>
          <p:cNvSpPr txBox="1"/>
          <p:nvPr/>
        </p:nvSpPr>
        <p:spPr>
          <a:xfrm>
            <a:off x="3322243" y="4160520"/>
            <a:ext cx="2362123" cy="1188720"/>
          </a:xfrm>
          <a:prstGeom prst="rect">
            <a:avLst/>
          </a:prstGeom>
          <a:noFill/>
        </p:spPr>
        <p:txBody>
          <a:bodyPr wrap="square" lIns="0" rIns="0" tIns="0" bIns="0" anchor="t">
            <a:spAutoFit/>
          </a:bodyPr>
          <a:lstStyle/>
          <a:p>
            <a:pPr algn="l">
              <a:lnSpc>
                <a:spcPct val="112000"/>
              </a:lnSpc>
              <a:spcAft>
                <a:spcPts val="0"/>
              </a:spcAft>
            </a:pPr>
            <a:r>
              <a:rPr sz="1250" b="0">
                <a:solidFill>
                  <a:srgbClr val="4A4D52"/>
                </a:solidFill>
                <a:latin typeface="Bahnschrift"/>
              </a:rPr>
              <a:t>61 nodes, 64 edges. No edge crosses a rack: walking follows the aisles.</a:t>
            </a:r>
          </a:p>
        </p:txBody>
      </p:sp>
      <p:sp>
        <p:nvSpPr>
          <p:cNvPr id="20" name="Rectangle 19"/>
          <p:cNvSpPr/>
          <p:nvPr/>
        </p:nvSpPr>
        <p:spPr>
          <a:xfrm>
            <a:off x="6095847" y="2788920"/>
            <a:ext cx="2545003"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5847" y="2880360"/>
            <a:ext cx="1371600" cy="822960"/>
          </a:xfrm>
          <a:prstGeom prst="rect">
            <a:avLst/>
          </a:prstGeom>
          <a:noFill/>
        </p:spPr>
        <p:txBody>
          <a:bodyPr wrap="square" lIns="0" rIns="0" tIns="0" bIns="0" anchor="t">
            <a:spAutoFit/>
          </a:bodyPr>
          <a:lstStyle/>
          <a:p>
            <a:pPr algn="l">
              <a:spcAft>
                <a:spcPts val="0"/>
              </a:spcAft>
            </a:pPr>
            <a:r>
              <a:rPr sz="4800" b="0">
                <a:solidFill>
                  <a:srgbClr val="E0442A"/>
                </a:solidFill>
                <a:latin typeface="Bahnschrift Light"/>
              </a:rPr>
              <a:t>03</a:t>
            </a:r>
          </a:p>
        </p:txBody>
      </p:sp>
      <p:sp>
        <p:nvSpPr>
          <p:cNvPr id="22" name="TextBox 21"/>
          <p:cNvSpPr txBox="1"/>
          <p:nvPr/>
        </p:nvSpPr>
        <p:spPr>
          <a:xfrm>
            <a:off x="6095847" y="3749039"/>
            <a:ext cx="2407843" cy="365760"/>
          </a:xfrm>
          <a:prstGeom prst="rect">
            <a:avLst/>
          </a:prstGeom>
          <a:noFill/>
        </p:spPr>
        <p:txBody>
          <a:bodyPr wrap="square" lIns="0" rIns="0" tIns="0" bIns="0" anchor="t">
            <a:spAutoFit/>
          </a:bodyPr>
          <a:lstStyle/>
          <a:p>
            <a:pPr algn="l">
              <a:spcAft>
                <a:spcPts val="0"/>
              </a:spcAft>
            </a:pPr>
            <a:r>
              <a:rPr sz="1700" b="0">
                <a:solidFill>
                  <a:srgbClr val="1F2226"/>
                </a:solidFill>
                <a:latin typeface="Bahnschrift SemiBold"/>
              </a:rPr>
              <a:t>Route &amp; score</a:t>
            </a:r>
          </a:p>
        </p:txBody>
      </p:sp>
      <p:sp>
        <p:nvSpPr>
          <p:cNvPr id="23" name="TextBox 22"/>
          <p:cNvSpPr txBox="1"/>
          <p:nvPr/>
        </p:nvSpPr>
        <p:spPr>
          <a:xfrm>
            <a:off x="6095847" y="4160520"/>
            <a:ext cx="2362123" cy="1188720"/>
          </a:xfrm>
          <a:prstGeom prst="rect">
            <a:avLst/>
          </a:prstGeom>
          <a:noFill/>
        </p:spPr>
        <p:txBody>
          <a:bodyPr wrap="square" lIns="0" rIns="0" tIns="0" bIns="0" anchor="t">
            <a:spAutoFit/>
          </a:bodyPr>
          <a:lstStyle/>
          <a:p>
            <a:pPr algn="l">
              <a:lnSpc>
                <a:spcPct val="112000"/>
              </a:lnSpc>
              <a:spcAft>
                <a:spcPts val="0"/>
              </a:spcAft>
            </a:pPr>
            <a:r>
              <a:rPr sz="1250" b="0">
                <a:solidFill>
                  <a:srgbClr val="4A4D52"/>
                </a:solidFill>
                <a:latin typeface="Bahnschrift"/>
              </a:rPr>
              <a:t>Shortest paths + nearest-neighbour and 2-opt per trip. A month replays in milliseconds.</a:t>
            </a:r>
          </a:p>
        </p:txBody>
      </p:sp>
      <p:sp>
        <p:nvSpPr>
          <p:cNvPr id="24" name="Rectangle 23"/>
          <p:cNvSpPr/>
          <p:nvPr/>
        </p:nvSpPr>
        <p:spPr>
          <a:xfrm>
            <a:off x="8869451" y="2788920"/>
            <a:ext cx="2545003"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451" y="2880360"/>
            <a:ext cx="1371600" cy="822960"/>
          </a:xfrm>
          <a:prstGeom prst="rect">
            <a:avLst/>
          </a:prstGeom>
          <a:noFill/>
        </p:spPr>
        <p:txBody>
          <a:bodyPr wrap="square" lIns="0" rIns="0" tIns="0" bIns="0" anchor="t">
            <a:spAutoFit/>
          </a:bodyPr>
          <a:lstStyle/>
          <a:p>
            <a:pPr algn="l">
              <a:spcAft>
                <a:spcPts val="0"/>
              </a:spcAft>
            </a:pPr>
            <a:r>
              <a:rPr sz="4800" b="0">
                <a:solidFill>
                  <a:srgbClr val="E0442A"/>
                </a:solidFill>
                <a:latin typeface="Bahnschrift Light"/>
              </a:rPr>
              <a:t>04</a:t>
            </a:r>
          </a:p>
        </p:txBody>
      </p:sp>
      <p:sp>
        <p:nvSpPr>
          <p:cNvPr id="26" name="TextBox 25"/>
          <p:cNvSpPr txBox="1"/>
          <p:nvPr/>
        </p:nvSpPr>
        <p:spPr>
          <a:xfrm>
            <a:off x="8869451" y="3749039"/>
            <a:ext cx="2407843" cy="365760"/>
          </a:xfrm>
          <a:prstGeom prst="rect">
            <a:avLst/>
          </a:prstGeom>
          <a:noFill/>
        </p:spPr>
        <p:txBody>
          <a:bodyPr wrap="square" lIns="0" rIns="0" tIns="0" bIns="0" anchor="t">
            <a:spAutoFit/>
          </a:bodyPr>
          <a:lstStyle/>
          <a:p>
            <a:pPr algn="l">
              <a:spcAft>
                <a:spcPts val="0"/>
              </a:spcAft>
            </a:pPr>
            <a:r>
              <a:rPr sz="1700" b="0">
                <a:solidFill>
                  <a:srgbClr val="1F2226"/>
                </a:solidFill>
                <a:latin typeface="Bahnschrift SemiBold"/>
              </a:rPr>
              <a:t>Optimize &amp; play</a:t>
            </a:r>
          </a:p>
        </p:txBody>
      </p:sp>
      <p:sp>
        <p:nvSpPr>
          <p:cNvPr id="27" name="TextBox 26"/>
          <p:cNvSpPr txBox="1"/>
          <p:nvPr/>
        </p:nvSpPr>
        <p:spPr>
          <a:xfrm>
            <a:off x="8869451" y="4160520"/>
            <a:ext cx="2362123" cy="1188720"/>
          </a:xfrm>
          <a:prstGeom prst="rect">
            <a:avLst/>
          </a:prstGeom>
          <a:noFill/>
        </p:spPr>
        <p:txBody>
          <a:bodyPr wrap="square" lIns="0" rIns="0" tIns="0" bIns="0" anchor="t">
            <a:spAutoFit/>
          </a:bodyPr>
          <a:lstStyle/>
          <a:p>
            <a:pPr algn="l">
              <a:lnSpc>
                <a:spcPct val="112000"/>
              </a:lnSpc>
              <a:spcAft>
                <a:spcPts val="0"/>
              </a:spcAft>
            </a:pPr>
            <a:r>
              <a:rPr sz="1250" b="0">
                <a:solidFill>
                  <a:srgbClr val="4A4D52"/>
                </a:solidFill>
                <a:latin typeface="Bahnschrift"/>
              </a:rPr>
              <a:t>Simulated annealing offline and in a Web Worker; Three.js twin in the browser.</a:t>
            </a:r>
          </a:p>
        </p:txBody>
      </p:sp>
      <p:sp>
        <p:nvSpPr>
          <p:cNvPr id="28" name="Rectangle 27"/>
          <p:cNvSpPr/>
          <p:nvPr/>
        </p:nvSpPr>
        <p:spPr>
          <a:xfrm>
            <a:off x="548640" y="5349240"/>
            <a:ext cx="11094415" cy="566928"/>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349240"/>
            <a:ext cx="10637215" cy="566928"/>
          </a:xfrm>
          <a:prstGeom prst="rect">
            <a:avLst/>
          </a:prstGeom>
          <a:noFill/>
        </p:spPr>
        <p:txBody>
          <a:bodyPr wrap="square" lIns="0" rIns="0" tIns="0" bIns="0" anchor="ctr">
            <a:spAutoFit/>
          </a:bodyPr>
          <a:lstStyle/>
          <a:p>
            <a:pPr algn="l">
              <a:spcAft>
                <a:spcPts val="0"/>
              </a:spcAft>
            </a:pPr>
            <a:r>
              <a:rPr sz="1300" b="0">
                <a:solidFill>
                  <a:srgbClr val="F3B8A9"/>
                </a:solidFill>
                <a:latin typeface="Bahnschrift SemiBold"/>
              </a:rPr>
              <a:t>Same deterministic code in Node and in the browser  →  </a:t>
            </a:r>
            <a:r>
              <a:rPr sz="1300" b="0">
                <a:solidFill>
                  <a:srgbClr val="F1EADB"/>
                </a:solidFill>
                <a:latin typeface="Bahnschrift"/>
              </a:rPr>
              <a:t>both agree to the metre: 218.1 km for Original.</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05</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4246778"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§05  </a:t>
            </a:r>
            <a:r>
              <a:rPr sz="1100" b="1" spc="220">
                <a:solidFill>
                  <a:srgbClr val="E0442A"/>
                </a:solidFill>
                <a:latin typeface="Bahnschrift SemiCondensed"/>
              </a:rPr>
              <a:t>LAYOUT 1  ·  INTUITION</a:t>
            </a:r>
          </a:p>
        </p:txBody>
      </p:sp>
      <p:pic>
        <p:nvPicPr>
          <p:cNvPr id="10" name="!!hero" descr="axo_abc.jpg"/>
          <p:cNvPicPr>
            <a:picLocks noChangeAspect="1"/>
          </p:cNvPicPr>
          <p:nvPr/>
        </p:nvPicPr>
        <p:blipFill>
          <a:blip r:embed="rId3"/>
          <a:stretch>
            <a:fillRect/>
          </a:stretch>
        </p:blipFill>
        <p:spPr>
          <a:xfrm>
            <a:off x="4892040" y="731520"/>
            <a:ext cx="7315200" cy="4572000"/>
          </a:xfrm>
          <a:prstGeom prst="rect">
            <a:avLst/>
          </a:prstGeom>
        </p:spPr>
      </p:pic>
      <p:sp>
        <p:nvSpPr>
          <p:cNvPr id="11" name="!!title"/>
          <p:cNvSpPr txBox="1"/>
          <p:nvPr/>
        </p:nvSpPr>
        <p:spPr>
          <a:xfrm>
            <a:off x="548640" y="1261872"/>
            <a:ext cx="4846320" cy="1280160"/>
          </a:xfrm>
          <a:prstGeom prst="rect">
            <a:avLst/>
          </a:prstGeom>
          <a:noFill/>
        </p:spPr>
        <p:txBody>
          <a:bodyPr wrap="square" lIns="0" rIns="0" tIns="0" bIns="0" anchor="t">
            <a:spAutoFit/>
          </a:bodyPr>
          <a:lstStyle/>
          <a:p>
            <a:pPr algn="l">
              <a:lnSpc>
                <a:spcPct val="92000"/>
              </a:lnSpc>
              <a:spcAft>
                <a:spcPts val="0"/>
              </a:spcAft>
            </a:pPr>
            <a:r>
              <a:rPr sz="3400" b="0">
                <a:solidFill>
                  <a:srgbClr val="1F2226"/>
                </a:solidFill>
                <a:latin typeface="Bahnschrift SemiBold"/>
              </a:rPr>
              <a:t>The textbook fix
saves only 2.5%</a:t>
            </a:r>
          </a:p>
        </p:txBody>
      </p:sp>
      <p:sp>
        <p:nvSpPr>
          <p:cNvPr id="12" name="!!body"/>
          <p:cNvSpPr txBox="1"/>
          <p:nvPr/>
        </p:nvSpPr>
        <p:spPr>
          <a:xfrm>
            <a:off x="548640" y="2377440"/>
            <a:ext cx="4297680" cy="1280160"/>
          </a:xfrm>
          <a:prstGeom prst="rect">
            <a:avLst/>
          </a:prstGeom>
          <a:noFill/>
        </p:spPr>
        <p:txBody>
          <a:bodyPr wrap="square" lIns="0" rIns="0" tIns="0" bIns="0" anchor="t">
            <a:spAutoFit/>
          </a:bodyPr>
          <a:lstStyle/>
          <a:p>
            <a:pPr algn="l">
              <a:lnSpc>
                <a:spcPct val="112000"/>
              </a:lnSpc>
              <a:spcAft>
                <a:spcPts val="0"/>
              </a:spcAft>
            </a:pPr>
            <a:r>
              <a:rPr sz="1350" b="0">
                <a:solidFill>
                  <a:srgbClr val="4A4D52"/>
                </a:solidFill>
                <a:latin typeface="Bahnschrift"/>
              </a:rPr>
              <a:t>ABC slotting puts the most-picked products nearest the dock. Orders average 7 lines, so the picker still visits most aisles.</a:t>
            </a:r>
          </a:p>
        </p:txBody>
      </p:sp>
      <p:sp>
        <p:nvSpPr>
          <p:cNvPr id="13" name="!!num"/>
          <p:cNvSpPr txBox="1"/>
          <p:nvPr/>
        </p:nvSpPr>
        <p:spPr>
          <a:xfrm>
            <a:off x="548640" y="3429000"/>
            <a:ext cx="2743200" cy="822960"/>
          </a:xfrm>
          <a:prstGeom prst="rect">
            <a:avLst/>
          </a:prstGeom>
          <a:noFill/>
        </p:spPr>
        <p:txBody>
          <a:bodyPr wrap="square" lIns="0" rIns="0" tIns="0" bIns="0" anchor="t">
            <a:spAutoFit/>
          </a:bodyPr>
          <a:lstStyle/>
          <a:p>
            <a:pPr algn="l">
              <a:spcAft>
                <a:spcPts val="0"/>
              </a:spcAft>
            </a:pPr>
            <a:r>
              <a:rPr sz="6000" b="0">
                <a:solidFill>
                  <a:srgbClr val="E0442A"/>
                </a:solidFill>
                <a:latin typeface="Bahnschrift Light"/>
              </a:rPr>
              <a:t>−2.5%</a:t>
            </a:r>
          </a:p>
        </p:txBody>
      </p:sp>
      <p:sp>
        <p:nvSpPr>
          <p:cNvPr id="14" name="!!sub"/>
          <p:cNvSpPr txBox="1"/>
          <p:nvPr/>
        </p:nvSpPr>
        <p:spPr>
          <a:xfrm>
            <a:off x="548640" y="4279392"/>
            <a:ext cx="4206240" cy="274320"/>
          </a:xfrm>
          <a:prstGeom prst="rect">
            <a:avLst/>
          </a:prstGeom>
          <a:noFill/>
        </p:spPr>
        <p:txBody>
          <a:bodyPr wrap="square" lIns="0" rIns="0" tIns="0" bIns="0" anchor="t">
            <a:spAutoFit/>
          </a:bodyPr>
          <a:lstStyle/>
          <a:p>
            <a:pPr algn="l">
              <a:spcAft>
                <a:spcPts val="0"/>
              </a:spcAft>
            </a:pPr>
            <a:r>
              <a:rPr sz="1050" b="0">
                <a:solidFill>
                  <a:srgbClr val="4A4D52"/>
                </a:solidFill>
                <a:latin typeface="Cascadia Mono"/>
              </a:rPr>
              <a:t>218.1 → 212.7 km a month</a:t>
            </a:r>
          </a:p>
        </p:txBody>
      </p:sp>
      <p:sp>
        <p:nvSpPr>
          <p:cNvPr id="15" name="Rectangle 14"/>
          <p:cNvSpPr/>
          <p:nvPr/>
        </p:nvSpPr>
        <p:spPr>
          <a:xfrm>
            <a:off x="548640" y="4681728"/>
            <a:ext cx="425196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73168"/>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Original</a:t>
            </a:r>
          </a:p>
        </p:txBody>
      </p:sp>
      <p:sp>
        <p:nvSpPr>
          <p:cNvPr id="17" name="Rectangle 16"/>
          <p:cNvSpPr/>
          <p:nvPr/>
        </p:nvSpPr>
        <p:spPr>
          <a:xfrm>
            <a:off x="1783080" y="4837176"/>
            <a:ext cx="27432"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4754880"/>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218.1 km</a:t>
            </a:r>
          </a:p>
        </p:txBody>
      </p:sp>
      <p:sp>
        <p:nvSpPr>
          <p:cNvPr id="19" name="Rectangle 18"/>
          <p:cNvSpPr/>
          <p:nvPr/>
        </p:nvSpPr>
        <p:spPr>
          <a:xfrm>
            <a:off x="548640" y="5010912"/>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102352"/>
            <a:ext cx="1234440" cy="274320"/>
          </a:xfrm>
          <a:prstGeom prst="rect">
            <a:avLst/>
          </a:prstGeom>
          <a:noFill/>
        </p:spPr>
        <p:txBody>
          <a:bodyPr wrap="square" lIns="0" rIns="0" tIns="0" bIns="0" anchor="t">
            <a:spAutoFit/>
          </a:bodyPr>
          <a:lstStyle/>
          <a:p>
            <a:pPr algn="l">
              <a:spcAft>
                <a:spcPts val="0"/>
              </a:spcAft>
            </a:pPr>
            <a:r>
              <a:rPr sz="1250" b="0">
                <a:solidFill>
                  <a:srgbClr val="1F2226"/>
                </a:solidFill>
                <a:latin typeface="Bahnschrift SemiBold"/>
              </a:rPr>
              <a:t>ABC</a:t>
            </a:r>
          </a:p>
        </p:txBody>
      </p:sp>
      <p:sp>
        <p:nvSpPr>
          <p:cNvPr id="21" name="Rectangle 20"/>
          <p:cNvSpPr/>
          <p:nvPr/>
        </p:nvSpPr>
        <p:spPr>
          <a:xfrm>
            <a:off x="1783080" y="5166360"/>
            <a:ext cx="318303" cy="118872"/>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5084064"/>
            <a:ext cx="868680" cy="292608"/>
          </a:xfrm>
          <a:prstGeom prst="rect">
            <a:avLst/>
          </a:prstGeom>
          <a:noFill/>
        </p:spPr>
        <p:txBody>
          <a:bodyPr wrap="square" lIns="0" rIns="0" tIns="0" bIns="0" anchor="t">
            <a:spAutoFit/>
          </a:bodyPr>
          <a:lstStyle/>
          <a:p>
            <a:pPr algn="r">
              <a:spcAft>
                <a:spcPts val="0"/>
              </a:spcAft>
            </a:pPr>
            <a:r>
              <a:rPr sz="1300" b="0">
                <a:solidFill>
                  <a:srgbClr val="E0442A"/>
                </a:solidFill>
                <a:latin typeface="Cascadia Mono"/>
              </a:rPr>
              <a:t>−2.5%</a:t>
            </a:r>
          </a:p>
        </p:txBody>
      </p:sp>
      <p:sp>
        <p:nvSpPr>
          <p:cNvPr id="23" name="Rectangle 22"/>
          <p:cNvSpPr/>
          <p:nvPr/>
        </p:nvSpPr>
        <p:spPr>
          <a:xfrm>
            <a:off x="548640" y="5340096"/>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431536"/>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Affinity</a:t>
            </a:r>
          </a:p>
        </p:txBody>
      </p:sp>
      <p:sp>
        <p:nvSpPr>
          <p:cNvPr id="25" name="Rectangle 24"/>
          <p:cNvSpPr/>
          <p:nvPr/>
        </p:nvSpPr>
        <p:spPr>
          <a:xfrm>
            <a:off x="1783080" y="5495544"/>
            <a:ext cx="1438733"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0" y="5413248"/>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−11.3%</a:t>
            </a:r>
          </a:p>
        </p:txBody>
      </p:sp>
      <p:sp>
        <p:nvSpPr>
          <p:cNvPr id="27" name="Rectangle 26"/>
          <p:cNvSpPr/>
          <p:nvPr/>
        </p:nvSpPr>
        <p:spPr>
          <a:xfrm>
            <a:off x="548640" y="5669280"/>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760720"/>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Optimized</a:t>
            </a:r>
          </a:p>
        </p:txBody>
      </p:sp>
      <p:sp>
        <p:nvSpPr>
          <p:cNvPr id="29" name="Rectangle 28"/>
          <p:cNvSpPr/>
          <p:nvPr/>
        </p:nvSpPr>
        <p:spPr>
          <a:xfrm>
            <a:off x="1783080" y="5824728"/>
            <a:ext cx="2011680"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1920" y="5742432"/>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−15.8%</a:t>
            </a:r>
          </a:p>
        </p:txBody>
      </p:sp>
      <p:sp>
        <p:nvSpPr>
          <p:cNvPr id="31" name="Rectangle 30"/>
          <p:cNvSpPr/>
          <p:nvPr/>
        </p:nvSpPr>
        <p:spPr>
          <a:xfrm>
            <a:off x="548640" y="5998464"/>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5989320"/>
            <a:ext cx="5074920" cy="274320"/>
          </a:xfrm>
          <a:prstGeom prst="rect">
            <a:avLst/>
          </a:prstGeom>
          <a:noFill/>
        </p:spPr>
        <p:txBody>
          <a:bodyPr wrap="square" lIns="0" rIns="0" tIns="0" bIns="0" anchor="t">
            <a:spAutoFit/>
          </a:bodyPr>
          <a:lstStyle/>
          <a:p>
            <a:pPr algn="r">
              <a:spcAft>
                <a:spcPts val="0"/>
              </a:spcAft>
            </a:pPr>
            <a:r>
              <a:rPr sz="850" b="0">
                <a:solidFill>
                  <a:srgbClr val="7D786C"/>
                </a:solidFill>
                <a:latin typeface="Cascadia Mono"/>
              </a:rPr>
              <a:t>Rack colour = visits per month: rare → very frequent</a:t>
            </a:r>
          </a:p>
        </p:txBody>
      </p:sp>
      <p:sp>
        <p:nvSpPr>
          <p:cNvPr id="33" name="Rectangle 32"/>
          <p:cNvSpPr/>
          <p:nvPr/>
        </p:nvSpPr>
        <p:spPr>
          <a:xfrm>
            <a:off x="9738360" y="5833872"/>
            <a:ext cx="384048" cy="91440"/>
          </a:xfrm>
          <a:prstGeom prst="rect">
            <a:avLst/>
          </a:prstGeom>
          <a:solidFill>
            <a:srgbClr val="D7D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22408" y="5833872"/>
            <a:ext cx="384048" cy="91440"/>
          </a:xfrm>
          <a:prstGeom prst="rect">
            <a:avLst/>
          </a:prstGeom>
          <a:solidFill>
            <a:srgbClr val="A9C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506456" y="5833872"/>
            <a:ext cx="384048" cy="91440"/>
          </a:xfrm>
          <a:prstGeom prst="rect">
            <a:avLst/>
          </a:prstGeom>
          <a:solidFill>
            <a:srgbClr val="4E9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890504" y="5833872"/>
            <a:ext cx="384048" cy="91440"/>
          </a:xfrm>
          <a:prstGeom prst="rect">
            <a:avLst/>
          </a:prstGeom>
          <a:solidFill>
            <a:srgbClr val="ED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274552" y="5833872"/>
            <a:ext cx="384048" cy="9144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06</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5171313"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§06  </a:t>
            </a:r>
            <a:r>
              <a:rPr sz="1100" b="1" spc="220">
                <a:solidFill>
                  <a:srgbClr val="E0442A"/>
                </a:solidFill>
                <a:latin typeface="Bahnschrift SemiCondensed"/>
              </a:rPr>
              <a:t>LAYOUT 2  ·  DATA INSIGHT</a:t>
            </a:r>
          </a:p>
        </p:txBody>
      </p:sp>
      <p:pic>
        <p:nvPicPr>
          <p:cNvPr id="10" name="!!hero" descr="axo_affinity.jpg"/>
          <p:cNvPicPr>
            <a:picLocks noChangeAspect="1"/>
          </p:cNvPicPr>
          <p:nvPr/>
        </p:nvPicPr>
        <p:blipFill>
          <a:blip r:embed="rId3"/>
          <a:stretch>
            <a:fillRect/>
          </a:stretch>
        </p:blipFill>
        <p:spPr>
          <a:xfrm>
            <a:off x="4892040" y="731520"/>
            <a:ext cx="7315200" cy="4572000"/>
          </a:xfrm>
          <a:prstGeom prst="rect">
            <a:avLst/>
          </a:prstGeom>
        </p:spPr>
      </p:pic>
      <p:sp>
        <p:nvSpPr>
          <p:cNvPr id="11" name="!!title"/>
          <p:cNvSpPr txBox="1"/>
          <p:nvPr/>
        </p:nvSpPr>
        <p:spPr>
          <a:xfrm>
            <a:off x="548640" y="1261872"/>
            <a:ext cx="4846320" cy="1280160"/>
          </a:xfrm>
          <a:prstGeom prst="rect">
            <a:avLst/>
          </a:prstGeom>
          <a:noFill/>
        </p:spPr>
        <p:txBody>
          <a:bodyPr wrap="square" lIns="0" rIns="0" tIns="0" bIns="0" anchor="t">
            <a:spAutoFit/>
          </a:bodyPr>
          <a:lstStyle/>
          <a:p>
            <a:pPr algn="l">
              <a:lnSpc>
                <a:spcPct val="92000"/>
              </a:lnSpc>
              <a:spcAft>
                <a:spcPts val="0"/>
              </a:spcAft>
            </a:pPr>
            <a:r>
              <a:rPr sz="3400" b="0">
                <a:solidFill>
                  <a:srgbClr val="1F2226"/>
                </a:solidFill>
                <a:latin typeface="Bahnschrift SemiBold"/>
              </a:rPr>
              <a:t>What customers buy
together wins</a:t>
            </a:r>
          </a:p>
        </p:txBody>
      </p:sp>
      <p:sp>
        <p:nvSpPr>
          <p:cNvPr id="12" name="!!body"/>
          <p:cNvSpPr txBox="1"/>
          <p:nvPr/>
        </p:nvSpPr>
        <p:spPr>
          <a:xfrm>
            <a:off x="548640" y="2377440"/>
            <a:ext cx="4297680" cy="1280160"/>
          </a:xfrm>
          <a:prstGeom prst="rect">
            <a:avLst/>
          </a:prstGeom>
          <a:noFill/>
        </p:spPr>
        <p:txBody>
          <a:bodyPr wrap="square" lIns="0" rIns="0" tIns="0" bIns="0" anchor="t">
            <a:spAutoFit/>
          </a:bodyPr>
          <a:lstStyle/>
          <a:p>
            <a:pPr algn="l">
              <a:lnSpc>
                <a:spcPct val="112000"/>
              </a:lnSpc>
              <a:spcAft>
                <a:spcPts val="0"/>
              </a:spcAft>
            </a:pPr>
            <a:r>
              <a:rPr sz="1350" b="0">
                <a:solidFill>
                  <a:srgbClr val="4A4D52"/>
                </a:solidFill>
                <a:latin typeface="Bahnschrift"/>
              </a:rPr>
              <a:t>Affinity slotting pulls co-ordered products into the same aisle, while fast movers still sit near the dock.</a:t>
            </a:r>
          </a:p>
        </p:txBody>
      </p:sp>
      <p:sp>
        <p:nvSpPr>
          <p:cNvPr id="13" name="!!num"/>
          <p:cNvSpPr txBox="1"/>
          <p:nvPr/>
        </p:nvSpPr>
        <p:spPr>
          <a:xfrm>
            <a:off x="548640" y="3429000"/>
            <a:ext cx="2743200" cy="822960"/>
          </a:xfrm>
          <a:prstGeom prst="rect">
            <a:avLst/>
          </a:prstGeom>
          <a:noFill/>
        </p:spPr>
        <p:txBody>
          <a:bodyPr wrap="square" lIns="0" rIns="0" tIns="0" bIns="0" anchor="t">
            <a:spAutoFit/>
          </a:bodyPr>
          <a:lstStyle/>
          <a:p>
            <a:pPr algn="l">
              <a:spcAft>
                <a:spcPts val="0"/>
              </a:spcAft>
            </a:pPr>
            <a:r>
              <a:rPr sz="6000" b="0">
                <a:solidFill>
                  <a:srgbClr val="E0442A"/>
                </a:solidFill>
                <a:latin typeface="Bahnschrift Light"/>
              </a:rPr>
              <a:t>−11.3%</a:t>
            </a:r>
          </a:p>
        </p:txBody>
      </p:sp>
      <p:sp>
        <p:nvSpPr>
          <p:cNvPr id="14" name="!!sub"/>
          <p:cNvSpPr txBox="1"/>
          <p:nvPr/>
        </p:nvSpPr>
        <p:spPr>
          <a:xfrm>
            <a:off x="548640" y="4279392"/>
            <a:ext cx="4206240" cy="274320"/>
          </a:xfrm>
          <a:prstGeom prst="rect">
            <a:avLst/>
          </a:prstGeom>
          <a:noFill/>
        </p:spPr>
        <p:txBody>
          <a:bodyPr wrap="square" lIns="0" rIns="0" tIns="0" bIns="0" anchor="t">
            <a:spAutoFit/>
          </a:bodyPr>
          <a:lstStyle/>
          <a:p>
            <a:pPr algn="l">
              <a:spcAft>
                <a:spcPts val="0"/>
              </a:spcAft>
            </a:pPr>
            <a:r>
              <a:rPr sz="1050" b="0">
                <a:solidFill>
                  <a:srgbClr val="4A4D52"/>
                </a:solidFill>
                <a:latin typeface="Cascadia Mono"/>
              </a:rPr>
              <a:t>218.1 → 193.4 km · 4–5× the ABC saving</a:t>
            </a:r>
          </a:p>
        </p:txBody>
      </p:sp>
      <p:sp>
        <p:nvSpPr>
          <p:cNvPr id="15" name="Rectangle 14"/>
          <p:cNvSpPr/>
          <p:nvPr/>
        </p:nvSpPr>
        <p:spPr>
          <a:xfrm>
            <a:off x="548640" y="4681728"/>
            <a:ext cx="425196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73168"/>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Original</a:t>
            </a:r>
          </a:p>
        </p:txBody>
      </p:sp>
      <p:sp>
        <p:nvSpPr>
          <p:cNvPr id="17" name="Rectangle 16"/>
          <p:cNvSpPr/>
          <p:nvPr/>
        </p:nvSpPr>
        <p:spPr>
          <a:xfrm>
            <a:off x="1783080" y="4837176"/>
            <a:ext cx="27432"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4754880"/>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218.1 km</a:t>
            </a:r>
          </a:p>
        </p:txBody>
      </p:sp>
      <p:sp>
        <p:nvSpPr>
          <p:cNvPr id="19" name="Rectangle 18"/>
          <p:cNvSpPr/>
          <p:nvPr/>
        </p:nvSpPr>
        <p:spPr>
          <a:xfrm>
            <a:off x="548640" y="5010912"/>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102352"/>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ABC</a:t>
            </a:r>
          </a:p>
        </p:txBody>
      </p:sp>
      <p:sp>
        <p:nvSpPr>
          <p:cNvPr id="21" name="Rectangle 20"/>
          <p:cNvSpPr/>
          <p:nvPr/>
        </p:nvSpPr>
        <p:spPr>
          <a:xfrm>
            <a:off x="1783080" y="5166360"/>
            <a:ext cx="318303"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5084064"/>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−2.5%</a:t>
            </a:r>
          </a:p>
        </p:txBody>
      </p:sp>
      <p:sp>
        <p:nvSpPr>
          <p:cNvPr id="23" name="Rectangle 22"/>
          <p:cNvSpPr/>
          <p:nvPr/>
        </p:nvSpPr>
        <p:spPr>
          <a:xfrm>
            <a:off x="548640" y="5340096"/>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431536"/>
            <a:ext cx="1234440" cy="274320"/>
          </a:xfrm>
          <a:prstGeom prst="rect">
            <a:avLst/>
          </a:prstGeom>
          <a:noFill/>
        </p:spPr>
        <p:txBody>
          <a:bodyPr wrap="square" lIns="0" rIns="0" tIns="0" bIns="0" anchor="t">
            <a:spAutoFit/>
          </a:bodyPr>
          <a:lstStyle/>
          <a:p>
            <a:pPr algn="l">
              <a:spcAft>
                <a:spcPts val="0"/>
              </a:spcAft>
            </a:pPr>
            <a:r>
              <a:rPr sz="1250" b="0">
                <a:solidFill>
                  <a:srgbClr val="1F2226"/>
                </a:solidFill>
                <a:latin typeface="Bahnschrift SemiBold"/>
              </a:rPr>
              <a:t>Affinity</a:t>
            </a:r>
          </a:p>
        </p:txBody>
      </p:sp>
      <p:sp>
        <p:nvSpPr>
          <p:cNvPr id="25" name="Rectangle 24"/>
          <p:cNvSpPr/>
          <p:nvPr/>
        </p:nvSpPr>
        <p:spPr>
          <a:xfrm>
            <a:off x="1783080" y="5495544"/>
            <a:ext cx="1438733" cy="118872"/>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0" y="5413248"/>
            <a:ext cx="868680" cy="292608"/>
          </a:xfrm>
          <a:prstGeom prst="rect">
            <a:avLst/>
          </a:prstGeom>
          <a:noFill/>
        </p:spPr>
        <p:txBody>
          <a:bodyPr wrap="square" lIns="0" rIns="0" tIns="0" bIns="0" anchor="t">
            <a:spAutoFit/>
          </a:bodyPr>
          <a:lstStyle/>
          <a:p>
            <a:pPr algn="r">
              <a:spcAft>
                <a:spcPts val="0"/>
              </a:spcAft>
            </a:pPr>
            <a:r>
              <a:rPr sz="1300" b="0">
                <a:solidFill>
                  <a:srgbClr val="E0442A"/>
                </a:solidFill>
                <a:latin typeface="Cascadia Mono"/>
              </a:rPr>
              <a:t>−11.3%</a:t>
            </a:r>
          </a:p>
        </p:txBody>
      </p:sp>
      <p:sp>
        <p:nvSpPr>
          <p:cNvPr id="27" name="Rectangle 26"/>
          <p:cNvSpPr/>
          <p:nvPr/>
        </p:nvSpPr>
        <p:spPr>
          <a:xfrm>
            <a:off x="548640" y="5669280"/>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760720"/>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Optimized</a:t>
            </a:r>
          </a:p>
        </p:txBody>
      </p:sp>
      <p:sp>
        <p:nvSpPr>
          <p:cNvPr id="29" name="Rectangle 28"/>
          <p:cNvSpPr/>
          <p:nvPr/>
        </p:nvSpPr>
        <p:spPr>
          <a:xfrm>
            <a:off x="1783080" y="5824728"/>
            <a:ext cx="2011680"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1920" y="5742432"/>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−15.8%</a:t>
            </a:r>
          </a:p>
        </p:txBody>
      </p:sp>
      <p:sp>
        <p:nvSpPr>
          <p:cNvPr id="31" name="Rectangle 30"/>
          <p:cNvSpPr/>
          <p:nvPr/>
        </p:nvSpPr>
        <p:spPr>
          <a:xfrm>
            <a:off x="548640" y="5998464"/>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5989320"/>
            <a:ext cx="5074920" cy="274320"/>
          </a:xfrm>
          <a:prstGeom prst="rect">
            <a:avLst/>
          </a:prstGeom>
          <a:noFill/>
        </p:spPr>
        <p:txBody>
          <a:bodyPr wrap="square" lIns="0" rIns="0" tIns="0" bIns="0" anchor="t">
            <a:spAutoFit/>
          </a:bodyPr>
          <a:lstStyle/>
          <a:p>
            <a:pPr algn="r">
              <a:spcAft>
                <a:spcPts val="0"/>
              </a:spcAft>
            </a:pPr>
            <a:r>
              <a:rPr sz="850" b="0">
                <a:solidFill>
                  <a:srgbClr val="7D786C"/>
                </a:solidFill>
                <a:latin typeface="Cascadia Mono"/>
              </a:rPr>
              <a:t>Rack colour = visits per month: rare → very frequent</a:t>
            </a:r>
          </a:p>
        </p:txBody>
      </p:sp>
      <p:sp>
        <p:nvSpPr>
          <p:cNvPr id="33" name="Rectangle 32"/>
          <p:cNvSpPr/>
          <p:nvPr/>
        </p:nvSpPr>
        <p:spPr>
          <a:xfrm>
            <a:off x="9738360" y="5833872"/>
            <a:ext cx="384048" cy="91440"/>
          </a:xfrm>
          <a:prstGeom prst="rect">
            <a:avLst/>
          </a:prstGeom>
          <a:solidFill>
            <a:srgbClr val="D7D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22408" y="5833872"/>
            <a:ext cx="384048" cy="91440"/>
          </a:xfrm>
          <a:prstGeom prst="rect">
            <a:avLst/>
          </a:prstGeom>
          <a:solidFill>
            <a:srgbClr val="A9C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506456" y="5833872"/>
            <a:ext cx="384048" cy="91440"/>
          </a:xfrm>
          <a:prstGeom prst="rect">
            <a:avLst/>
          </a:prstGeom>
          <a:solidFill>
            <a:srgbClr val="4E9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890504" y="5833872"/>
            <a:ext cx="384048" cy="91440"/>
          </a:xfrm>
          <a:prstGeom prst="rect">
            <a:avLst/>
          </a:prstGeom>
          <a:solidFill>
            <a:srgbClr val="ED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274552" y="5833872"/>
            <a:ext cx="384048" cy="9144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07</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6095847"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§07  </a:t>
            </a:r>
            <a:r>
              <a:rPr sz="1100" b="1" spc="220">
                <a:solidFill>
                  <a:srgbClr val="E0442A"/>
                </a:solidFill>
                <a:latin typeface="Bahnschrift SemiCondensed"/>
              </a:rPr>
              <a:t>LAYOUT 3  ·  ALGORITHM</a:t>
            </a:r>
          </a:p>
        </p:txBody>
      </p:sp>
      <p:pic>
        <p:nvPicPr>
          <p:cNvPr id="10" name="!!hero" descr="axo_optimized.jpg"/>
          <p:cNvPicPr>
            <a:picLocks noChangeAspect="1"/>
          </p:cNvPicPr>
          <p:nvPr/>
        </p:nvPicPr>
        <p:blipFill>
          <a:blip r:embed="rId3"/>
          <a:stretch>
            <a:fillRect/>
          </a:stretch>
        </p:blipFill>
        <p:spPr>
          <a:xfrm>
            <a:off x="4892040" y="731520"/>
            <a:ext cx="7315200" cy="4572000"/>
          </a:xfrm>
          <a:prstGeom prst="rect">
            <a:avLst/>
          </a:prstGeom>
        </p:spPr>
      </p:pic>
      <p:sp>
        <p:nvSpPr>
          <p:cNvPr id="11" name="!!title"/>
          <p:cNvSpPr txBox="1"/>
          <p:nvPr/>
        </p:nvSpPr>
        <p:spPr>
          <a:xfrm>
            <a:off x="548640" y="1261872"/>
            <a:ext cx="4846320" cy="1280160"/>
          </a:xfrm>
          <a:prstGeom prst="rect">
            <a:avLst/>
          </a:prstGeom>
          <a:noFill/>
        </p:spPr>
        <p:txBody>
          <a:bodyPr wrap="square" lIns="0" rIns="0" tIns="0" bIns="0" anchor="t">
            <a:spAutoFit/>
          </a:bodyPr>
          <a:lstStyle/>
          <a:p>
            <a:pPr algn="l">
              <a:lnSpc>
                <a:spcPct val="92000"/>
              </a:lnSpc>
              <a:spcAft>
                <a:spcPts val="0"/>
              </a:spcAft>
            </a:pPr>
            <a:r>
              <a:rPr sz="3400" b="0">
                <a:solidFill>
                  <a:srgbClr val="1F2226"/>
                </a:solidFill>
                <a:latin typeface="Bahnschrift SemiBold"/>
              </a:rPr>
              <a:t>80,000 swaps later:
15.8% less walking</a:t>
            </a:r>
          </a:p>
        </p:txBody>
      </p:sp>
      <p:sp>
        <p:nvSpPr>
          <p:cNvPr id="12" name="!!body"/>
          <p:cNvSpPr txBox="1"/>
          <p:nvPr/>
        </p:nvSpPr>
        <p:spPr>
          <a:xfrm>
            <a:off x="548640" y="2377440"/>
            <a:ext cx="4297680" cy="1280160"/>
          </a:xfrm>
          <a:prstGeom prst="rect">
            <a:avLst/>
          </a:prstGeom>
          <a:noFill/>
        </p:spPr>
        <p:txBody>
          <a:bodyPr wrap="square" lIns="0" rIns="0" tIns="0" bIns="0" anchor="t">
            <a:spAutoFit/>
          </a:bodyPr>
          <a:lstStyle/>
          <a:p>
            <a:pPr algn="l">
              <a:lnSpc>
                <a:spcPct val="112000"/>
              </a:lnSpc>
              <a:spcAft>
                <a:spcPts val="0"/>
              </a:spcAft>
            </a:pPr>
            <a:r>
              <a:rPr sz="1350" b="0">
                <a:solidFill>
                  <a:srgbClr val="4A4D52"/>
                </a:solidFill>
                <a:latin typeface="Bahnschrift"/>
              </a:rPr>
              <a:t>Simulated annealing tries random slot swaps; each is judged by re-routing every affected order of the month.</a:t>
            </a:r>
          </a:p>
        </p:txBody>
      </p:sp>
      <p:sp>
        <p:nvSpPr>
          <p:cNvPr id="13" name="!!num"/>
          <p:cNvSpPr txBox="1"/>
          <p:nvPr/>
        </p:nvSpPr>
        <p:spPr>
          <a:xfrm>
            <a:off x="548640" y="3429000"/>
            <a:ext cx="2743200" cy="822960"/>
          </a:xfrm>
          <a:prstGeom prst="rect">
            <a:avLst/>
          </a:prstGeom>
          <a:noFill/>
        </p:spPr>
        <p:txBody>
          <a:bodyPr wrap="square" lIns="0" rIns="0" tIns="0" bIns="0" anchor="t">
            <a:spAutoFit/>
          </a:bodyPr>
          <a:lstStyle/>
          <a:p>
            <a:pPr algn="l">
              <a:spcAft>
                <a:spcPts val="0"/>
              </a:spcAft>
            </a:pPr>
            <a:r>
              <a:rPr sz="6000" b="0">
                <a:solidFill>
                  <a:srgbClr val="E0442A"/>
                </a:solidFill>
                <a:latin typeface="Bahnschrift Light"/>
              </a:rPr>
              <a:t>−15.8%</a:t>
            </a:r>
          </a:p>
        </p:txBody>
      </p:sp>
      <p:sp>
        <p:nvSpPr>
          <p:cNvPr id="14" name="!!sub"/>
          <p:cNvSpPr txBox="1"/>
          <p:nvPr/>
        </p:nvSpPr>
        <p:spPr>
          <a:xfrm>
            <a:off x="548640" y="4279392"/>
            <a:ext cx="4206240" cy="274320"/>
          </a:xfrm>
          <a:prstGeom prst="rect">
            <a:avLst/>
          </a:prstGeom>
          <a:noFill/>
        </p:spPr>
        <p:txBody>
          <a:bodyPr wrap="square" lIns="0" rIns="0" tIns="0" bIns="0" anchor="t">
            <a:spAutoFit/>
          </a:bodyPr>
          <a:lstStyle/>
          <a:p>
            <a:pPr algn="l">
              <a:spcAft>
                <a:spcPts val="0"/>
              </a:spcAft>
            </a:pPr>
            <a:r>
              <a:rPr sz="1050" b="0">
                <a:solidFill>
                  <a:srgbClr val="4A4D52"/>
                </a:solidFill>
                <a:latin typeface="Cascadia Mono"/>
              </a:rPr>
              <a:t>218.1 → 183.7 km · 34 km ≈ 8 h of picker time</a:t>
            </a:r>
          </a:p>
        </p:txBody>
      </p:sp>
      <p:sp>
        <p:nvSpPr>
          <p:cNvPr id="15" name="Rectangle 14"/>
          <p:cNvSpPr/>
          <p:nvPr/>
        </p:nvSpPr>
        <p:spPr>
          <a:xfrm>
            <a:off x="548640" y="4681728"/>
            <a:ext cx="425196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73168"/>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Original</a:t>
            </a:r>
          </a:p>
        </p:txBody>
      </p:sp>
      <p:sp>
        <p:nvSpPr>
          <p:cNvPr id="17" name="Rectangle 16"/>
          <p:cNvSpPr/>
          <p:nvPr/>
        </p:nvSpPr>
        <p:spPr>
          <a:xfrm>
            <a:off x="1783080" y="4837176"/>
            <a:ext cx="27432"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4754880"/>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218.1 km</a:t>
            </a:r>
          </a:p>
        </p:txBody>
      </p:sp>
      <p:sp>
        <p:nvSpPr>
          <p:cNvPr id="19" name="Rectangle 18"/>
          <p:cNvSpPr/>
          <p:nvPr/>
        </p:nvSpPr>
        <p:spPr>
          <a:xfrm>
            <a:off x="548640" y="5010912"/>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102352"/>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ABC</a:t>
            </a:r>
          </a:p>
        </p:txBody>
      </p:sp>
      <p:sp>
        <p:nvSpPr>
          <p:cNvPr id="21" name="Rectangle 20"/>
          <p:cNvSpPr/>
          <p:nvPr/>
        </p:nvSpPr>
        <p:spPr>
          <a:xfrm>
            <a:off x="1783080" y="5166360"/>
            <a:ext cx="318303"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5084064"/>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−2.5%</a:t>
            </a:r>
          </a:p>
        </p:txBody>
      </p:sp>
      <p:sp>
        <p:nvSpPr>
          <p:cNvPr id="23" name="Rectangle 22"/>
          <p:cNvSpPr/>
          <p:nvPr/>
        </p:nvSpPr>
        <p:spPr>
          <a:xfrm>
            <a:off x="548640" y="5340096"/>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431536"/>
            <a:ext cx="1234440" cy="274320"/>
          </a:xfrm>
          <a:prstGeom prst="rect">
            <a:avLst/>
          </a:prstGeom>
          <a:noFill/>
        </p:spPr>
        <p:txBody>
          <a:bodyPr wrap="square" lIns="0" rIns="0" tIns="0" bIns="0" anchor="t">
            <a:spAutoFit/>
          </a:bodyPr>
          <a:lstStyle/>
          <a:p>
            <a:pPr algn="l">
              <a:spcAft>
                <a:spcPts val="0"/>
              </a:spcAft>
            </a:pPr>
            <a:r>
              <a:rPr sz="1250" b="0">
                <a:solidFill>
                  <a:srgbClr val="7D786C"/>
                </a:solidFill>
                <a:latin typeface="Bahnschrift"/>
              </a:rPr>
              <a:t>Affinity</a:t>
            </a:r>
          </a:p>
        </p:txBody>
      </p:sp>
      <p:sp>
        <p:nvSpPr>
          <p:cNvPr id="25" name="Rectangle 24"/>
          <p:cNvSpPr/>
          <p:nvPr/>
        </p:nvSpPr>
        <p:spPr>
          <a:xfrm>
            <a:off x="1783080" y="5495544"/>
            <a:ext cx="1438733" cy="118872"/>
          </a:xfrm>
          <a:prstGeom prst="rect">
            <a:avLst/>
          </a:prstGeom>
          <a:solidFill>
            <a:srgbClr val="BD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0" y="5413248"/>
            <a:ext cx="868680" cy="292608"/>
          </a:xfrm>
          <a:prstGeom prst="rect">
            <a:avLst/>
          </a:prstGeom>
          <a:noFill/>
        </p:spPr>
        <p:txBody>
          <a:bodyPr wrap="square" lIns="0" rIns="0" tIns="0" bIns="0" anchor="t">
            <a:spAutoFit/>
          </a:bodyPr>
          <a:lstStyle/>
          <a:p>
            <a:pPr algn="r">
              <a:spcAft>
                <a:spcPts val="0"/>
              </a:spcAft>
            </a:pPr>
            <a:r>
              <a:rPr sz="1300" b="0">
                <a:solidFill>
                  <a:srgbClr val="7D786C"/>
                </a:solidFill>
                <a:latin typeface="Cascadia Mono"/>
              </a:rPr>
              <a:t>−11.3%</a:t>
            </a:r>
          </a:p>
        </p:txBody>
      </p:sp>
      <p:sp>
        <p:nvSpPr>
          <p:cNvPr id="27" name="Rectangle 26"/>
          <p:cNvSpPr/>
          <p:nvPr/>
        </p:nvSpPr>
        <p:spPr>
          <a:xfrm>
            <a:off x="548640" y="5669280"/>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760720"/>
            <a:ext cx="1234440" cy="274320"/>
          </a:xfrm>
          <a:prstGeom prst="rect">
            <a:avLst/>
          </a:prstGeom>
          <a:noFill/>
        </p:spPr>
        <p:txBody>
          <a:bodyPr wrap="square" lIns="0" rIns="0" tIns="0" bIns="0" anchor="t">
            <a:spAutoFit/>
          </a:bodyPr>
          <a:lstStyle/>
          <a:p>
            <a:pPr algn="l">
              <a:spcAft>
                <a:spcPts val="0"/>
              </a:spcAft>
            </a:pPr>
            <a:r>
              <a:rPr sz="1250" b="0">
                <a:solidFill>
                  <a:srgbClr val="1F2226"/>
                </a:solidFill>
                <a:latin typeface="Bahnschrift SemiBold"/>
              </a:rPr>
              <a:t>Optimized</a:t>
            </a:r>
          </a:p>
        </p:txBody>
      </p:sp>
      <p:sp>
        <p:nvSpPr>
          <p:cNvPr id="29" name="Rectangle 28"/>
          <p:cNvSpPr/>
          <p:nvPr/>
        </p:nvSpPr>
        <p:spPr>
          <a:xfrm>
            <a:off x="1783080" y="5824728"/>
            <a:ext cx="2011680" cy="118872"/>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1920" y="5742432"/>
            <a:ext cx="868680" cy="292608"/>
          </a:xfrm>
          <a:prstGeom prst="rect">
            <a:avLst/>
          </a:prstGeom>
          <a:noFill/>
        </p:spPr>
        <p:txBody>
          <a:bodyPr wrap="square" lIns="0" rIns="0" tIns="0" bIns="0" anchor="t">
            <a:spAutoFit/>
          </a:bodyPr>
          <a:lstStyle/>
          <a:p>
            <a:pPr algn="r">
              <a:spcAft>
                <a:spcPts val="0"/>
              </a:spcAft>
            </a:pPr>
            <a:r>
              <a:rPr sz="1300" b="0">
                <a:solidFill>
                  <a:srgbClr val="E0442A"/>
                </a:solidFill>
                <a:latin typeface="Cascadia Mono"/>
              </a:rPr>
              <a:t>−15.8%</a:t>
            </a:r>
          </a:p>
        </p:txBody>
      </p:sp>
      <p:sp>
        <p:nvSpPr>
          <p:cNvPr id="31" name="Rectangle 30"/>
          <p:cNvSpPr/>
          <p:nvPr/>
        </p:nvSpPr>
        <p:spPr>
          <a:xfrm>
            <a:off x="548640" y="5998464"/>
            <a:ext cx="425196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5989320"/>
            <a:ext cx="5074920" cy="274320"/>
          </a:xfrm>
          <a:prstGeom prst="rect">
            <a:avLst/>
          </a:prstGeom>
          <a:noFill/>
        </p:spPr>
        <p:txBody>
          <a:bodyPr wrap="square" lIns="0" rIns="0" tIns="0" bIns="0" anchor="t">
            <a:spAutoFit/>
          </a:bodyPr>
          <a:lstStyle/>
          <a:p>
            <a:pPr algn="r">
              <a:spcAft>
                <a:spcPts val="0"/>
              </a:spcAft>
            </a:pPr>
            <a:r>
              <a:rPr sz="850" b="0">
                <a:solidFill>
                  <a:srgbClr val="7D786C"/>
                </a:solidFill>
                <a:latin typeface="Cascadia Mono"/>
              </a:rPr>
              <a:t>Rack colour = visits per month: rare → very frequent</a:t>
            </a:r>
          </a:p>
        </p:txBody>
      </p:sp>
      <p:sp>
        <p:nvSpPr>
          <p:cNvPr id="33" name="Rectangle 32"/>
          <p:cNvSpPr/>
          <p:nvPr/>
        </p:nvSpPr>
        <p:spPr>
          <a:xfrm>
            <a:off x="9738360" y="5833872"/>
            <a:ext cx="384048" cy="91440"/>
          </a:xfrm>
          <a:prstGeom prst="rect">
            <a:avLst/>
          </a:prstGeom>
          <a:solidFill>
            <a:srgbClr val="D7D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22408" y="5833872"/>
            <a:ext cx="384048" cy="91440"/>
          </a:xfrm>
          <a:prstGeom prst="rect">
            <a:avLst/>
          </a:prstGeom>
          <a:solidFill>
            <a:srgbClr val="A9C3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506456" y="5833872"/>
            <a:ext cx="384048" cy="91440"/>
          </a:xfrm>
          <a:prstGeom prst="rect">
            <a:avLst/>
          </a:prstGeom>
          <a:solidFill>
            <a:srgbClr val="4E9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890504" y="5833872"/>
            <a:ext cx="384048" cy="91440"/>
          </a:xfrm>
          <a:prstGeom prst="rect">
            <a:avLst/>
          </a:prstGeom>
          <a:solidFill>
            <a:srgbClr val="ED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274552" y="5833872"/>
            <a:ext cx="384048" cy="9144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08</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7020382"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§08  </a:t>
            </a:r>
            <a:r>
              <a:rPr sz="1100" b="1" spc="220">
                <a:solidFill>
                  <a:srgbClr val="E0442A"/>
                </a:solidFill>
                <a:latin typeface="Bahnschrift SemiCondensed"/>
              </a:rPr>
              <a:t>ONE REAL ORDER</a:t>
            </a:r>
          </a:p>
        </p:txBody>
      </p:sp>
      <p:sp>
        <p:nvSpPr>
          <p:cNvPr id="10" name="!!title"/>
          <p:cNvSpPr txBox="1"/>
          <p:nvPr/>
        </p:nvSpPr>
        <p:spPr>
          <a:xfrm>
            <a:off x="548640" y="1261872"/>
            <a:ext cx="10058400" cy="1280160"/>
          </a:xfrm>
          <a:prstGeom prst="rect">
            <a:avLst/>
          </a:prstGeom>
          <a:noFill/>
        </p:spPr>
        <p:txBody>
          <a:bodyPr wrap="square" lIns="0" rIns="0" tIns="0" bIns="0" anchor="t">
            <a:spAutoFit/>
          </a:bodyPr>
          <a:lstStyle/>
          <a:p>
            <a:pPr algn="l">
              <a:lnSpc>
                <a:spcPct val="92000"/>
              </a:lnSpc>
              <a:spcAft>
                <a:spcPts val="0"/>
              </a:spcAft>
            </a:pPr>
            <a:r>
              <a:rPr sz="3800" b="0">
                <a:solidFill>
                  <a:srgbClr val="1F2226"/>
                </a:solidFill>
                <a:latin typeface="Bahnschrift SemiBold"/>
              </a:rPr>
              <a:t>Same order, two floors</a:t>
            </a:r>
          </a:p>
        </p:txBody>
      </p:sp>
      <p:sp>
        <p:nvSpPr>
          <p:cNvPr id="11" name="!!body"/>
          <p:cNvSpPr txBox="1"/>
          <p:nvPr/>
        </p:nvSpPr>
        <p:spPr>
          <a:xfrm>
            <a:off x="548640" y="1874519"/>
            <a:ext cx="8229600" cy="1280160"/>
          </a:xfrm>
          <a:prstGeom prst="rect">
            <a:avLst/>
          </a:prstGeom>
          <a:noFill/>
        </p:spPr>
        <p:txBody>
          <a:bodyPr wrap="square" lIns="0" rIns="0" tIns="0" bIns="0" anchor="t">
            <a:spAutoFit/>
          </a:bodyPr>
          <a:lstStyle/>
          <a:p>
            <a:pPr algn="l">
              <a:lnSpc>
                <a:spcPct val="112000"/>
              </a:lnSpc>
              <a:spcAft>
                <a:spcPts val="0"/>
              </a:spcAft>
            </a:pPr>
            <a:r>
              <a:rPr sz="1450" b="0">
                <a:solidFill>
                  <a:srgbClr val="4A4D52"/>
                </a:solidFill>
                <a:latin typeface="Bahnschrift"/>
              </a:rPr>
              <a:t>Invoice 532964: 9 lines, the same picker, routed along the aisles on each layout.</a:t>
            </a:r>
          </a:p>
        </p:txBody>
      </p:sp>
      <p:pic>
        <p:nvPicPr>
          <p:cNvPr id="12" name="Picture 11" descr="route_original.jpg"/>
          <p:cNvPicPr>
            <a:picLocks noChangeAspect="1"/>
          </p:cNvPicPr>
          <p:nvPr/>
        </p:nvPicPr>
        <p:blipFill>
          <a:blip r:embed="rId3"/>
          <a:stretch>
            <a:fillRect/>
          </a:stretch>
        </p:blipFill>
        <p:spPr>
          <a:xfrm>
            <a:off x="457200" y="2331720"/>
            <a:ext cx="5669280" cy="3543300"/>
          </a:xfrm>
          <a:prstGeom prst="rect">
            <a:avLst/>
          </a:prstGeom>
        </p:spPr>
      </p:pic>
      <p:sp>
        <p:nvSpPr>
          <p:cNvPr id="13" name="Rectangle 12"/>
          <p:cNvSpPr/>
          <p:nvPr/>
        </p:nvSpPr>
        <p:spPr>
          <a:xfrm>
            <a:off x="548640" y="5486400"/>
            <a:ext cx="539496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559552"/>
            <a:ext cx="1828800" cy="274320"/>
          </a:xfrm>
          <a:prstGeom prst="rect">
            <a:avLst/>
          </a:prstGeom>
          <a:noFill/>
        </p:spPr>
        <p:txBody>
          <a:bodyPr wrap="square" lIns="0" rIns="0" tIns="0" bIns="0" anchor="t">
            <a:spAutoFit/>
          </a:bodyPr>
          <a:lstStyle/>
          <a:p>
            <a:pPr algn="l">
              <a:spcAft>
                <a:spcPts val="0"/>
              </a:spcAft>
            </a:pPr>
            <a:r>
              <a:rPr sz="1050" b="1" spc="200">
                <a:solidFill>
                  <a:srgbClr val="4A4D52"/>
                </a:solidFill>
                <a:latin typeface="Bahnschrift SemiCondensed"/>
              </a:rPr>
              <a:t>ORIGINAL</a:t>
            </a:r>
          </a:p>
        </p:txBody>
      </p:sp>
      <p:sp>
        <p:nvSpPr>
          <p:cNvPr id="15" name="TextBox 14"/>
          <p:cNvSpPr txBox="1"/>
          <p:nvPr/>
        </p:nvSpPr>
        <p:spPr>
          <a:xfrm>
            <a:off x="2377440" y="5486400"/>
            <a:ext cx="3566160" cy="457200"/>
          </a:xfrm>
          <a:prstGeom prst="rect">
            <a:avLst/>
          </a:prstGeom>
          <a:noFill/>
        </p:spPr>
        <p:txBody>
          <a:bodyPr wrap="square" lIns="0" rIns="0" tIns="0" bIns="0" anchor="t">
            <a:spAutoFit/>
          </a:bodyPr>
          <a:lstStyle/>
          <a:p>
            <a:pPr algn="r">
              <a:spcAft>
                <a:spcPts val="0"/>
              </a:spcAft>
            </a:pPr>
            <a:r>
              <a:rPr sz="2600" b="0">
                <a:solidFill>
                  <a:srgbClr val="1F2226"/>
                </a:solidFill>
                <a:latin typeface="Bahnschrift Light"/>
              </a:rPr>
              <a:t>143 m</a:t>
            </a:r>
            <a:r>
              <a:rPr sz="1300" b="0">
                <a:solidFill>
                  <a:srgbClr val="4A4D52"/>
                </a:solidFill>
                <a:latin typeface="Bahnschrift"/>
              </a:rPr>
              <a:t>   5 aisles</a:t>
            </a:r>
          </a:p>
        </p:txBody>
      </p:sp>
      <p:pic>
        <p:nvPicPr>
          <p:cNvPr id="16" name="!!hero" descr="route_optimized.jpg"/>
          <p:cNvPicPr>
            <a:picLocks noChangeAspect="1"/>
          </p:cNvPicPr>
          <p:nvPr/>
        </p:nvPicPr>
        <p:blipFill>
          <a:blip r:embed="rId4"/>
          <a:stretch>
            <a:fillRect/>
          </a:stretch>
        </p:blipFill>
        <p:spPr>
          <a:xfrm>
            <a:off x="6099048" y="2331720"/>
            <a:ext cx="5669280" cy="3543300"/>
          </a:xfrm>
          <a:prstGeom prst="rect">
            <a:avLst/>
          </a:prstGeom>
        </p:spPr>
      </p:pic>
      <p:sp>
        <p:nvSpPr>
          <p:cNvPr id="17" name="Rectangle 16"/>
          <p:cNvSpPr/>
          <p:nvPr/>
        </p:nvSpPr>
        <p:spPr>
          <a:xfrm>
            <a:off x="6190488" y="5486400"/>
            <a:ext cx="539496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5559552"/>
            <a:ext cx="1828800" cy="274320"/>
          </a:xfrm>
          <a:prstGeom prst="rect">
            <a:avLst/>
          </a:prstGeom>
          <a:noFill/>
        </p:spPr>
        <p:txBody>
          <a:bodyPr wrap="square" lIns="0" rIns="0" tIns="0" bIns="0" anchor="t">
            <a:spAutoFit/>
          </a:bodyPr>
          <a:lstStyle/>
          <a:p>
            <a:pPr algn="l">
              <a:spcAft>
                <a:spcPts val="0"/>
              </a:spcAft>
            </a:pPr>
            <a:r>
              <a:rPr sz="1050" b="1" spc="200">
                <a:solidFill>
                  <a:srgbClr val="E0442A"/>
                </a:solidFill>
                <a:latin typeface="Bahnschrift SemiCondensed"/>
              </a:rPr>
              <a:t>OPTIMIZED</a:t>
            </a:r>
          </a:p>
        </p:txBody>
      </p:sp>
      <p:sp>
        <p:nvSpPr>
          <p:cNvPr id="19" name="TextBox 18"/>
          <p:cNvSpPr txBox="1"/>
          <p:nvPr/>
        </p:nvSpPr>
        <p:spPr>
          <a:xfrm>
            <a:off x="8019288" y="5486400"/>
            <a:ext cx="3566160" cy="457200"/>
          </a:xfrm>
          <a:prstGeom prst="rect">
            <a:avLst/>
          </a:prstGeom>
          <a:noFill/>
        </p:spPr>
        <p:txBody>
          <a:bodyPr wrap="square" lIns="0" rIns="0" tIns="0" bIns="0" anchor="t">
            <a:spAutoFit/>
          </a:bodyPr>
          <a:lstStyle/>
          <a:p>
            <a:pPr algn="r">
              <a:spcAft>
                <a:spcPts val="0"/>
              </a:spcAft>
            </a:pPr>
            <a:r>
              <a:rPr sz="2600" b="0">
                <a:solidFill>
                  <a:srgbClr val="E0442A"/>
                </a:solidFill>
                <a:latin typeface="Bahnschrift Light"/>
              </a:rPr>
              <a:t>62 m</a:t>
            </a:r>
            <a:r>
              <a:rPr sz="1300" b="0">
                <a:solidFill>
                  <a:srgbClr val="4A4D52"/>
                </a:solidFill>
                <a:latin typeface="Bahnschrift"/>
              </a:rPr>
              <a:t>   2 aisles</a:t>
            </a:r>
          </a:p>
        </p:txBody>
      </p:sp>
      <p:sp>
        <p:nvSpPr>
          <p:cNvPr id="20" name="TextBox 19"/>
          <p:cNvSpPr txBox="1"/>
          <p:nvPr/>
        </p:nvSpPr>
        <p:spPr>
          <a:xfrm>
            <a:off x="548640" y="5989320"/>
            <a:ext cx="10972800" cy="274320"/>
          </a:xfrm>
          <a:prstGeom prst="rect">
            <a:avLst/>
          </a:prstGeom>
          <a:noFill/>
        </p:spPr>
        <p:txBody>
          <a:bodyPr wrap="square" lIns="0" rIns="0" tIns="0" bIns="0" anchor="t">
            <a:spAutoFit/>
          </a:bodyPr>
          <a:lstStyle/>
          <a:p>
            <a:pPr algn="l">
              <a:spcAft>
                <a:spcPts val="0"/>
              </a:spcAft>
            </a:pPr>
            <a:r>
              <a:rPr sz="950" b="0">
                <a:solidFill>
                  <a:srgbClr val="7D786C"/>
                </a:solidFill>
                <a:latin typeface="Cascadia Mono"/>
              </a:rPr>
              <a:t>One of the month’s biggest single-order wins. Averaged over all 2,293 orders: 95.1 → 80.1 m per order.</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09</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7944916"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§09  </a:t>
            </a:r>
            <a:r>
              <a:rPr sz="1100" b="1" spc="220">
                <a:solidFill>
                  <a:srgbClr val="E0442A"/>
                </a:solidFill>
                <a:latin typeface="Bahnschrift SemiCondensed"/>
              </a:rPr>
              <a:t>PROOF  ·  UNSEEN ORDERS</a:t>
            </a:r>
          </a:p>
        </p:txBody>
      </p:sp>
      <p:sp>
        <p:nvSpPr>
          <p:cNvPr id="10" name="!!title"/>
          <p:cNvSpPr txBox="1"/>
          <p:nvPr/>
        </p:nvSpPr>
        <p:spPr>
          <a:xfrm>
            <a:off x="548640" y="1261872"/>
            <a:ext cx="10058400" cy="1280160"/>
          </a:xfrm>
          <a:prstGeom prst="rect">
            <a:avLst/>
          </a:prstGeom>
          <a:noFill/>
        </p:spPr>
        <p:txBody>
          <a:bodyPr wrap="square" lIns="0" rIns="0" tIns="0" bIns="0" anchor="t">
            <a:spAutoFit/>
          </a:bodyPr>
          <a:lstStyle/>
          <a:p>
            <a:pPr algn="l">
              <a:lnSpc>
                <a:spcPct val="92000"/>
              </a:lnSpc>
              <a:spcAft>
                <a:spcPts val="0"/>
              </a:spcAft>
            </a:pPr>
            <a:r>
              <a:rPr sz="3400" b="0">
                <a:solidFill>
                  <a:srgbClr val="1F2226"/>
                </a:solidFill>
                <a:latin typeface="Bahnschrift SemiBold"/>
              </a:rPr>
              <a:t>It holds on orders it never saw,
and stacks with batching</a:t>
            </a:r>
          </a:p>
        </p:txBody>
      </p:sp>
      <p:sp>
        <p:nvSpPr>
          <p:cNvPr id="11" name="TextBox 10"/>
          <p:cNvSpPr txBox="1"/>
          <p:nvPr/>
        </p:nvSpPr>
        <p:spPr>
          <a:xfrm>
            <a:off x="548640" y="2697480"/>
            <a:ext cx="5120640" cy="274320"/>
          </a:xfrm>
          <a:prstGeom prst="rect">
            <a:avLst/>
          </a:prstGeom>
          <a:noFill/>
        </p:spPr>
        <p:txBody>
          <a:bodyPr wrap="square" lIns="0" rIns="0" tIns="0" bIns="0" anchor="t">
            <a:spAutoFit/>
          </a:bodyPr>
          <a:lstStyle/>
          <a:p>
            <a:pPr algn="l">
              <a:spcAft>
                <a:spcPts val="0"/>
              </a:spcAft>
            </a:pPr>
            <a:r>
              <a:rPr sz="1000" b="1" spc="180">
                <a:solidFill>
                  <a:srgbClr val="4A4D52"/>
                </a:solidFill>
                <a:latin typeface="Bahnschrift SemiCondensed"/>
              </a:rPr>
              <a:t>WALKING SAVED VS ORIGINAL</a:t>
            </a:r>
          </a:p>
        </p:txBody>
      </p:sp>
      <p:sp>
        <p:nvSpPr>
          <p:cNvPr id="12" name="Rectangle 11"/>
          <p:cNvSpPr/>
          <p:nvPr/>
        </p:nvSpPr>
        <p:spPr>
          <a:xfrm>
            <a:off x="3611880" y="2743200"/>
            <a:ext cx="146304" cy="146304"/>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03904" y="2697480"/>
            <a:ext cx="914400" cy="274320"/>
          </a:xfrm>
          <a:prstGeom prst="rect">
            <a:avLst/>
          </a:prstGeom>
          <a:noFill/>
        </p:spPr>
        <p:txBody>
          <a:bodyPr wrap="square" lIns="0" rIns="0" tIns="0" bIns="0" anchor="t">
            <a:spAutoFit/>
          </a:bodyPr>
          <a:lstStyle/>
          <a:p>
            <a:pPr algn="l">
              <a:spcAft>
                <a:spcPts val="0"/>
              </a:spcAft>
            </a:pPr>
            <a:r>
              <a:rPr sz="950" b="0">
                <a:solidFill>
                  <a:srgbClr val="4A4D52"/>
                </a:solidFill>
                <a:latin typeface="Bahnschrift"/>
              </a:rPr>
              <a:t>full month</a:t>
            </a:r>
          </a:p>
        </p:txBody>
      </p:sp>
      <p:sp>
        <p:nvSpPr>
          <p:cNvPr id="14" name="Rectangle 13"/>
          <p:cNvSpPr/>
          <p:nvPr/>
        </p:nvSpPr>
        <p:spPr>
          <a:xfrm>
            <a:off x="4709159" y="2743200"/>
            <a:ext cx="146304" cy="146304"/>
          </a:xfrm>
          <a:prstGeom prst="rect">
            <a:avLst/>
          </a:prstGeom>
          <a:solidFill>
            <a:srgbClr val="234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01183" y="2697480"/>
            <a:ext cx="914400" cy="274320"/>
          </a:xfrm>
          <a:prstGeom prst="rect">
            <a:avLst/>
          </a:prstGeom>
          <a:noFill/>
        </p:spPr>
        <p:txBody>
          <a:bodyPr wrap="square" lIns="0" rIns="0" tIns="0" bIns="0" anchor="t">
            <a:spAutoFit/>
          </a:bodyPr>
          <a:lstStyle/>
          <a:p>
            <a:pPr algn="l">
              <a:spcAft>
                <a:spcPts val="0"/>
              </a:spcAft>
            </a:pPr>
            <a:r>
              <a:rPr sz="950" b="0">
                <a:solidFill>
                  <a:srgbClr val="4A4D52"/>
                </a:solidFill>
                <a:latin typeface="Bahnschrift"/>
              </a:rPr>
              <a:t>unseen week</a:t>
            </a:r>
          </a:p>
        </p:txBody>
      </p:sp>
      <p:sp>
        <p:nvSpPr>
          <p:cNvPr id="16" name="Rectangle 15"/>
          <p:cNvSpPr/>
          <p:nvPr/>
        </p:nvSpPr>
        <p:spPr>
          <a:xfrm>
            <a:off x="548640" y="3081528"/>
            <a:ext cx="512064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310128"/>
            <a:ext cx="1188720" cy="365760"/>
          </a:xfrm>
          <a:prstGeom prst="rect">
            <a:avLst/>
          </a:prstGeom>
          <a:noFill/>
        </p:spPr>
        <p:txBody>
          <a:bodyPr wrap="square" lIns="0" rIns="0" tIns="0" bIns="0" anchor="t">
            <a:spAutoFit/>
          </a:bodyPr>
          <a:lstStyle/>
          <a:p>
            <a:pPr algn="l">
              <a:spcAft>
                <a:spcPts val="0"/>
              </a:spcAft>
            </a:pPr>
            <a:r>
              <a:rPr sz="1300" b="0">
                <a:solidFill>
                  <a:srgbClr val="1F2226"/>
                </a:solidFill>
                <a:latin typeface="Bahnschrift"/>
              </a:rPr>
              <a:t>ABC</a:t>
            </a:r>
          </a:p>
        </p:txBody>
      </p:sp>
      <p:sp>
        <p:nvSpPr>
          <p:cNvPr id="18" name="Rectangle 17"/>
          <p:cNvSpPr/>
          <p:nvPr/>
        </p:nvSpPr>
        <p:spPr>
          <a:xfrm>
            <a:off x="1783080" y="3200400"/>
            <a:ext cx="491924" cy="201168"/>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66444" y="3163824"/>
            <a:ext cx="822960" cy="274320"/>
          </a:xfrm>
          <a:prstGeom prst="rect">
            <a:avLst/>
          </a:prstGeom>
          <a:noFill/>
        </p:spPr>
        <p:txBody>
          <a:bodyPr wrap="square" lIns="0" rIns="0" tIns="0" bIns="0" anchor="t">
            <a:spAutoFit/>
          </a:bodyPr>
          <a:lstStyle/>
          <a:p>
            <a:pPr algn="l">
              <a:spcAft>
                <a:spcPts val="0"/>
              </a:spcAft>
            </a:pPr>
            <a:r>
              <a:rPr sz="1050" b="0">
                <a:solidFill>
                  <a:srgbClr val="1F2226"/>
                </a:solidFill>
                <a:latin typeface="Cascadia Mono"/>
              </a:rPr>
              <a:t>2.5%</a:t>
            </a:r>
          </a:p>
        </p:txBody>
      </p:sp>
      <p:sp>
        <p:nvSpPr>
          <p:cNvPr id="20" name="Rectangle 19"/>
          <p:cNvSpPr/>
          <p:nvPr/>
        </p:nvSpPr>
        <p:spPr>
          <a:xfrm>
            <a:off x="1783080" y="3474720"/>
            <a:ext cx="373862" cy="201168"/>
          </a:xfrm>
          <a:prstGeom prst="rect">
            <a:avLst/>
          </a:prstGeom>
          <a:solidFill>
            <a:srgbClr val="234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8382" y="3438144"/>
            <a:ext cx="822960" cy="274320"/>
          </a:xfrm>
          <a:prstGeom prst="rect">
            <a:avLst/>
          </a:prstGeom>
          <a:noFill/>
        </p:spPr>
        <p:txBody>
          <a:bodyPr wrap="square" lIns="0" rIns="0" tIns="0" bIns="0" anchor="t">
            <a:spAutoFit/>
          </a:bodyPr>
          <a:lstStyle/>
          <a:p>
            <a:pPr algn="l">
              <a:spcAft>
                <a:spcPts val="0"/>
              </a:spcAft>
            </a:pPr>
            <a:r>
              <a:rPr sz="1050" b="0">
                <a:solidFill>
                  <a:srgbClr val="2340B8"/>
                </a:solidFill>
                <a:latin typeface="Cascadia Mono"/>
              </a:rPr>
              <a:t>1.9%</a:t>
            </a:r>
          </a:p>
        </p:txBody>
      </p:sp>
      <p:sp>
        <p:nvSpPr>
          <p:cNvPr id="22" name="Rectangle 21"/>
          <p:cNvSpPr/>
          <p:nvPr/>
        </p:nvSpPr>
        <p:spPr>
          <a:xfrm>
            <a:off x="548640" y="3858768"/>
            <a:ext cx="512064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087368"/>
            <a:ext cx="1188720" cy="365760"/>
          </a:xfrm>
          <a:prstGeom prst="rect">
            <a:avLst/>
          </a:prstGeom>
          <a:noFill/>
        </p:spPr>
        <p:txBody>
          <a:bodyPr wrap="square" lIns="0" rIns="0" tIns="0" bIns="0" anchor="t">
            <a:spAutoFit/>
          </a:bodyPr>
          <a:lstStyle/>
          <a:p>
            <a:pPr algn="l">
              <a:spcAft>
                <a:spcPts val="0"/>
              </a:spcAft>
            </a:pPr>
            <a:r>
              <a:rPr sz="1300" b="0">
                <a:solidFill>
                  <a:srgbClr val="1F2226"/>
                </a:solidFill>
                <a:latin typeface="Bahnschrift"/>
              </a:rPr>
              <a:t>Affinity</a:t>
            </a:r>
          </a:p>
        </p:txBody>
      </p:sp>
      <p:sp>
        <p:nvSpPr>
          <p:cNvPr id="24" name="Rectangle 23"/>
          <p:cNvSpPr/>
          <p:nvPr/>
        </p:nvSpPr>
        <p:spPr>
          <a:xfrm>
            <a:off x="1783080" y="3977639"/>
            <a:ext cx="2223496" cy="201168"/>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98016" y="3941063"/>
            <a:ext cx="822960" cy="274320"/>
          </a:xfrm>
          <a:prstGeom prst="rect">
            <a:avLst/>
          </a:prstGeom>
          <a:noFill/>
        </p:spPr>
        <p:txBody>
          <a:bodyPr wrap="square" lIns="0" rIns="0" tIns="0" bIns="0" anchor="t">
            <a:spAutoFit/>
          </a:bodyPr>
          <a:lstStyle/>
          <a:p>
            <a:pPr algn="l">
              <a:spcAft>
                <a:spcPts val="0"/>
              </a:spcAft>
            </a:pPr>
            <a:r>
              <a:rPr sz="1050" b="0">
                <a:solidFill>
                  <a:srgbClr val="1F2226"/>
                </a:solidFill>
                <a:latin typeface="Cascadia Mono"/>
              </a:rPr>
              <a:t>11.3%</a:t>
            </a:r>
          </a:p>
        </p:txBody>
      </p:sp>
      <p:sp>
        <p:nvSpPr>
          <p:cNvPr id="26" name="Rectangle 25"/>
          <p:cNvSpPr/>
          <p:nvPr/>
        </p:nvSpPr>
        <p:spPr>
          <a:xfrm>
            <a:off x="1783080" y="4251959"/>
            <a:ext cx="2203819" cy="201168"/>
          </a:xfrm>
          <a:prstGeom prst="rect">
            <a:avLst/>
          </a:prstGeom>
          <a:solidFill>
            <a:srgbClr val="234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78339" y="4215383"/>
            <a:ext cx="822960" cy="274320"/>
          </a:xfrm>
          <a:prstGeom prst="rect">
            <a:avLst/>
          </a:prstGeom>
          <a:noFill/>
        </p:spPr>
        <p:txBody>
          <a:bodyPr wrap="square" lIns="0" rIns="0" tIns="0" bIns="0" anchor="t">
            <a:spAutoFit/>
          </a:bodyPr>
          <a:lstStyle/>
          <a:p>
            <a:pPr algn="l">
              <a:spcAft>
                <a:spcPts val="0"/>
              </a:spcAft>
            </a:pPr>
            <a:r>
              <a:rPr sz="1050" b="0">
                <a:solidFill>
                  <a:srgbClr val="2340B8"/>
                </a:solidFill>
                <a:latin typeface="Cascadia Mono"/>
              </a:rPr>
              <a:t>11.2%</a:t>
            </a:r>
          </a:p>
        </p:txBody>
      </p:sp>
      <p:sp>
        <p:nvSpPr>
          <p:cNvPr id="28" name="Rectangle 27"/>
          <p:cNvSpPr/>
          <p:nvPr/>
        </p:nvSpPr>
        <p:spPr>
          <a:xfrm>
            <a:off x="548640" y="4636007"/>
            <a:ext cx="512064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864608"/>
            <a:ext cx="1188720" cy="365760"/>
          </a:xfrm>
          <a:prstGeom prst="rect">
            <a:avLst/>
          </a:prstGeom>
          <a:noFill/>
        </p:spPr>
        <p:txBody>
          <a:bodyPr wrap="square" lIns="0" rIns="0" tIns="0" bIns="0" anchor="t">
            <a:spAutoFit/>
          </a:bodyPr>
          <a:lstStyle/>
          <a:p>
            <a:pPr algn="l">
              <a:spcAft>
                <a:spcPts val="0"/>
              </a:spcAft>
            </a:pPr>
            <a:r>
              <a:rPr sz="1300" b="0">
                <a:solidFill>
                  <a:srgbClr val="1F2226"/>
                </a:solidFill>
                <a:latin typeface="Bahnschrift SemiBold"/>
              </a:rPr>
              <a:t>Optimized</a:t>
            </a:r>
          </a:p>
        </p:txBody>
      </p:sp>
      <p:sp>
        <p:nvSpPr>
          <p:cNvPr id="30" name="Rectangle 29"/>
          <p:cNvSpPr/>
          <p:nvPr/>
        </p:nvSpPr>
        <p:spPr>
          <a:xfrm>
            <a:off x="1783080" y="4754880"/>
            <a:ext cx="3108960" cy="201168"/>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83479" y="4718304"/>
            <a:ext cx="822960" cy="274320"/>
          </a:xfrm>
          <a:prstGeom prst="rect">
            <a:avLst/>
          </a:prstGeom>
          <a:noFill/>
        </p:spPr>
        <p:txBody>
          <a:bodyPr wrap="square" lIns="0" rIns="0" tIns="0" bIns="0" anchor="t">
            <a:spAutoFit/>
          </a:bodyPr>
          <a:lstStyle/>
          <a:p>
            <a:pPr algn="l">
              <a:spcAft>
                <a:spcPts val="0"/>
              </a:spcAft>
            </a:pPr>
            <a:r>
              <a:rPr sz="1050" b="0">
                <a:solidFill>
                  <a:srgbClr val="1F2226"/>
                </a:solidFill>
                <a:latin typeface="Cascadia Mono"/>
              </a:rPr>
              <a:t>15.8%</a:t>
            </a:r>
          </a:p>
        </p:txBody>
      </p:sp>
      <p:sp>
        <p:nvSpPr>
          <p:cNvPr id="32" name="Rectangle 31"/>
          <p:cNvSpPr/>
          <p:nvPr/>
        </p:nvSpPr>
        <p:spPr>
          <a:xfrm>
            <a:off x="1783080" y="5029200"/>
            <a:ext cx="2735097" cy="201168"/>
          </a:xfrm>
          <a:prstGeom prst="rect">
            <a:avLst/>
          </a:prstGeom>
          <a:solidFill>
            <a:srgbClr val="234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09617" y="4992624"/>
            <a:ext cx="822960" cy="274320"/>
          </a:xfrm>
          <a:prstGeom prst="rect">
            <a:avLst/>
          </a:prstGeom>
          <a:noFill/>
        </p:spPr>
        <p:txBody>
          <a:bodyPr wrap="square" lIns="0" rIns="0" tIns="0" bIns="0" anchor="t">
            <a:spAutoFit/>
          </a:bodyPr>
          <a:lstStyle/>
          <a:p>
            <a:pPr algn="l">
              <a:spcAft>
                <a:spcPts val="0"/>
              </a:spcAft>
            </a:pPr>
            <a:r>
              <a:rPr sz="1050" b="0">
                <a:solidFill>
                  <a:srgbClr val="2340B8"/>
                </a:solidFill>
                <a:latin typeface="Cascadia Mono"/>
              </a:rPr>
              <a:t>13.9%</a:t>
            </a:r>
          </a:p>
        </p:txBody>
      </p:sp>
      <p:sp>
        <p:nvSpPr>
          <p:cNvPr id="34" name="Rectangle 33"/>
          <p:cNvSpPr/>
          <p:nvPr/>
        </p:nvSpPr>
        <p:spPr>
          <a:xfrm>
            <a:off x="548640" y="5413248"/>
            <a:ext cx="512064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440680"/>
            <a:ext cx="5120640" cy="457200"/>
          </a:xfrm>
          <a:prstGeom prst="rect">
            <a:avLst/>
          </a:prstGeom>
          <a:noFill/>
        </p:spPr>
        <p:txBody>
          <a:bodyPr wrap="square" lIns="0" rIns="0" tIns="0" bIns="0" anchor="t">
            <a:spAutoFit/>
          </a:bodyPr>
          <a:lstStyle/>
          <a:p>
            <a:pPr algn="l">
              <a:lnSpc>
                <a:spcPct val="110000"/>
              </a:lnSpc>
              <a:spcAft>
                <a:spcPts val="0"/>
              </a:spcAft>
            </a:pPr>
            <a:r>
              <a:rPr sz="1000" b="0">
                <a:solidFill>
                  <a:srgbClr val="7D786C"/>
                </a:solidFill>
                <a:latin typeface="Bahnschrift"/>
              </a:rPr>
              <a:t>Layouts built on orders before 22 Nov (1,527), tested on the final week (766 orders).</a:t>
            </a:r>
          </a:p>
        </p:txBody>
      </p:sp>
      <p:sp>
        <p:nvSpPr>
          <p:cNvPr id="36" name="TextBox 35"/>
          <p:cNvSpPr txBox="1"/>
          <p:nvPr/>
        </p:nvSpPr>
        <p:spPr>
          <a:xfrm>
            <a:off x="6492240" y="2697480"/>
            <a:ext cx="5148072" cy="274320"/>
          </a:xfrm>
          <a:prstGeom prst="rect">
            <a:avLst/>
          </a:prstGeom>
          <a:noFill/>
        </p:spPr>
        <p:txBody>
          <a:bodyPr wrap="square" lIns="0" rIns="0" tIns="0" bIns="0" anchor="t">
            <a:spAutoFit/>
          </a:bodyPr>
          <a:lstStyle/>
          <a:p>
            <a:pPr algn="l">
              <a:spcAft>
                <a:spcPts val="0"/>
              </a:spcAft>
            </a:pPr>
            <a:r>
              <a:rPr sz="1000" b="1" spc="180">
                <a:solidFill>
                  <a:srgbClr val="4A4D52"/>
                </a:solidFill>
                <a:latin typeface="Bahnschrift SemiCondensed"/>
              </a:rPr>
              <a:t>KM WALKED IN THE MONTH</a:t>
            </a:r>
          </a:p>
        </p:txBody>
      </p:sp>
      <p:sp>
        <p:nvSpPr>
          <p:cNvPr id="37" name="Rectangle 36"/>
          <p:cNvSpPr/>
          <p:nvPr/>
        </p:nvSpPr>
        <p:spPr>
          <a:xfrm>
            <a:off x="6492240" y="3081528"/>
            <a:ext cx="5148072"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3227832"/>
            <a:ext cx="2103120" cy="365760"/>
          </a:xfrm>
          <a:prstGeom prst="rect">
            <a:avLst/>
          </a:prstGeom>
          <a:noFill/>
        </p:spPr>
        <p:txBody>
          <a:bodyPr wrap="square" lIns="0" rIns="0" tIns="0" bIns="0" anchor="t">
            <a:spAutoFit/>
          </a:bodyPr>
          <a:lstStyle/>
          <a:p>
            <a:pPr algn="l">
              <a:spcAft>
                <a:spcPts val="0"/>
              </a:spcAft>
            </a:pPr>
            <a:r>
              <a:rPr sz="1150" b="0">
                <a:solidFill>
                  <a:srgbClr val="4A4D52"/>
                </a:solidFill>
                <a:latin typeface="Bahnschrift"/>
              </a:rPr>
              <a:t>Original, 1 order / trip</a:t>
            </a:r>
          </a:p>
        </p:txBody>
      </p:sp>
      <p:sp>
        <p:nvSpPr>
          <p:cNvPr id="39" name="Rectangle 38"/>
          <p:cNvSpPr/>
          <p:nvPr/>
        </p:nvSpPr>
        <p:spPr>
          <a:xfrm>
            <a:off x="8641080" y="3264408"/>
            <a:ext cx="2286000" cy="237744"/>
          </a:xfrm>
          <a:prstGeom prst="rect">
            <a:avLst/>
          </a:prstGeom>
          <a:solidFill>
            <a:srgbClr val="4A4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018520" y="3218688"/>
            <a:ext cx="914400" cy="292608"/>
          </a:xfrm>
          <a:prstGeom prst="rect">
            <a:avLst/>
          </a:prstGeom>
          <a:noFill/>
        </p:spPr>
        <p:txBody>
          <a:bodyPr wrap="square" lIns="0" rIns="0" tIns="0" bIns="0" anchor="t">
            <a:spAutoFit/>
          </a:bodyPr>
          <a:lstStyle/>
          <a:p>
            <a:pPr algn="l">
              <a:spcAft>
                <a:spcPts val="0"/>
              </a:spcAft>
            </a:pPr>
            <a:r>
              <a:rPr sz="1150" b="0">
                <a:solidFill>
                  <a:srgbClr val="4A4D52"/>
                </a:solidFill>
                <a:latin typeface="Cascadia Mono"/>
              </a:rPr>
              <a:t>218.1</a:t>
            </a:r>
          </a:p>
        </p:txBody>
      </p:sp>
      <p:sp>
        <p:nvSpPr>
          <p:cNvPr id="41" name="TextBox 40"/>
          <p:cNvSpPr txBox="1"/>
          <p:nvPr/>
        </p:nvSpPr>
        <p:spPr>
          <a:xfrm>
            <a:off x="6492240" y="3703320"/>
            <a:ext cx="2103120" cy="365760"/>
          </a:xfrm>
          <a:prstGeom prst="rect">
            <a:avLst/>
          </a:prstGeom>
          <a:noFill/>
        </p:spPr>
        <p:txBody>
          <a:bodyPr wrap="square" lIns="0" rIns="0" tIns="0" bIns="0" anchor="t">
            <a:spAutoFit/>
          </a:bodyPr>
          <a:lstStyle/>
          <a:p>
            <a:pPr algn="l">
              <a:spcAft>
                <a:spcPts val="0"/>
              </a:spcAft>
            </a:pPr>
            <a:r>
              <a:rPr sz="1150" b="0">
                <a:solidFill>
                  <a:srgbClr val="4A4D52"/>
                </a:solidFill>
                <a:latin typeface="Bahnschrift"/>
              </a:rPr>
              <a:t>Optimized layout</a:t>
            </a:r>
          </a:p>
        </p:txBody>
      </p:sp>
      <p:sp>
        <p:nvSpPr>
          <p:cNvPr id="42" name="Rectangle 41"/>
          <p:cNvSpPr/>
          <p:nvPr/>
        </p:nvSpPr>
        <p:spPr>
          <a:xfrm>
            <a:off x="8641080" y="3739896"/>
            <a:ext cx="1925438" cy="237744"/>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57958" y="3694176"/>
            <a:ext cx="914400" cy="292608"/>
          </a:xfrm>
          <a:prstGeom prst="rect">
            <a:avLst/>
          </a:prstGeom>
          <a:noFill/>
        </p:spPr>
        <p:txBody>
          <a:bodyPr wrap="square" lIns="0" rIns="0" tIns="0" bIns="0" anchor="t">
            <a:spAutoFit/>
          </a:bodyPr>
          <a:lstStyle/>
          <a:p>
            <a:pPr algn="l">
              <a:spcAft>
                <a:spcPts val="0"/>
              </a:spcAft>
            </a:pPr>
            <a:r>
              <a:rPr sz="1150" b="0">
                <a:solidFill>
                  <a:srgbClr val="1F2226"/>
                </a:solidFill>
                <a:latin typeface="Cascadia Mono"/>
              </a:rPr>
              <a:t>183.7</a:t>
            </a:r>
          </a:p>
        </p:txBody>
      </p:sp>
      <p:sp>
        <p:nvSpPr>
          <p:cNvPr id="44" name="TextBox 43"/>
          <p:cNvSpPr txBox="1"/>
          <p:nvPr/>
        </p:nvSpPr>
        <p:spPr>
          <a:xfrm>
            <a:off x="6492240" y="4178807"/>
            <a:ext cx="2103120" cy="365760"/>
          </a:xfrm>
          <a:prstGeom prst="rect">
            <a:avLst/>
          </a:prstGeom>
          <a:noFill/>
        </p:spPr>
        <p:txBody>
          <a:bodyPr wrap="square" lIns="0" rIns="0" tIns="0" bIns="0" anchor="t">
            <a:spAutoFit/>
          </a:bodyPr>
          <a:lstStyle/>
          <a:p>
            <a:pPr algn="l">
              <a:spcAft>
                <a:spcPts val="0"/>
              </a:spcAft>
            </a:pPr>
            <a:r>
              <a:rPr sz="1150" b="0">
                <a:solidFill>
                  <a:srgbClr val="4A4D52"/>
                </a:solidFill>
                <a:latin typeface="Bahnschrift"/>
              </a:rPr>
              <a:t>Batch of 4 orders</a:t>
            </a:r>
          </a:p>
        </p:txBody>
      </p:sp>
      <p:sp>
        <p:nvSpPr>
          <p:cNvPr id="45" name="Rectangle 44"/>
          <p:cNvSpPr/>
          <p:nvPr/>
        </p:nvSpPr>
        <p:spPr>
          <a:xfrm>
            <a:off x="8641080" y="4215383"/>
            <a:ext cx="924462" cy="237744"/>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56982" y="4169663"/>
            <a:ext cx="914400" cy="292608"/>
          </a:xfrm>
          <a:prstGeom prst="rect">
            <a:avLst/>
          </a:prstGeom>
          <a:noFill/>
        </p:spPr>
        <p:txBody>
          <a:bodyPr wrap="square" lIns="0" rIns="0" tIns="0" bIns="0" anchor="t">
            <a:spAutoFit/>
          </a:bodyPr>
          <a:lstStyle/>
          <a:p>
            <a:pPr algn="l">
              <a:spcAft>
                <a:spcPts val="0"/>
              </a:spcAft>
            </a:pPr>
            <a:r>
              <a:rPr sz="1150" b="0">
                <a:solidFill>
                  <a:srgbClr val="1F2226"/>
                </a:solidFill>
                <a:latin typeface="Cascadia Mono"/>
              </a:rPr>
              <a:t>88.2</a:t>
            </a:r>
          </a:p>
        </p:txBody>
      </p:sp>
      <p:sp>
        <p:nvSpPr>
          <p:cNvPr id="47" name="TextBox 46"/>
          <p:cNvSpPr txBox="1"/>
          <p:nvPr/>
        </p:nvSpPr>
        <p:spPr>
          <a:xfrm>
            <a:off x="6492240" y="4654296"/>
            <a:ext cx="2103120" cy="365760"/>
          </a:xfrm>
          <a:prstGeom prst="rect">
            <a:avLst/>
          </a:prstGeom>
          <a:noFill/>
        </p:spPr>
        <p:txBody>
          <a:bodyPr wrap="square" lIns="0" rIns="0" tIns="0" bIns="0" anchor="t">
            <a:spAutoFit/>
          </a:bodyPr>
          <a:lstStyle/>
          <a:p>
            <a:pPr algn="l">
              <a:spcAft>
                <a:spcPts val="0"/>
              </a:spcAft>
            </a:pPr>
            <a:r>
              <a:rPr sz="1150" b="0">
                <a:solidFill>
                  <a:srgbClr val="1F2226"/>
                </a:solidFill>
                <a:latin typeface="Bahnschrift SemiBold"/>
              </a:rPr>
              <a:t>Smart batch + optimized</a:t>
            </a:r>
          </a:p>
        </p:txBody>
      </p:sp>
      <p:sp>
        <p:nvSpPr>
          <p:cNvPr id="48" name="Rectangle 47"/>
          <p:cNvSpPr/>
          <p:nvPr/>
        </p:nvSpPr>
        <p:spPr>
          <a:xfrm>
            <a:off x="8641080" y="4690872"/>
            <a:ext cx="734748" cy="237744"/>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67268" y="4645152"/>
            <a:ext cx="914400" cy="292608"/>
          </a:xfrm>
          <a:prstGeom prst="rect">
            <a:avLst/>
          </a:prstGeom>
          <a:noFill/>
        </p:spPr>
        <p:txBody>
          <a:bodyPr wrap="square" lIns="0" rIns="0" tIns="0" bIns="0" anchor="t">
            <a:spAutoFit/>
          </a:bodyPr>
          <a:lstStyle/>
          <a:p>
            <a:pPr algn="l">
              <a:spcAft>
                <a:spcPts val="0"/>
              </a:spcAft>
            </a:pPr>
            <a:r>
              <a:rPr sz="1150" b="0">
                <a:solidFill>
                  <a:srgbClr val="E0442A"/>
                </a:solidFill>
                <a:latin typeface="Cascadia Mono"/>
              </a:rPr>
              <a:t>70.1</a:t>
            </a:r>
          </a:p>
        </p:txBody>
      </p:sp>
      <p:sp>
        <p:nvSpPr>
          <p:cNvPr id="50" name="TextBox 49"/>
          <p:cNvSpPr txBox="1"/>
          <p:nvPr/>
        </p:nvSpPr>
        <p:spPr>
          <a:xfrm>
            <a:off x="6492240" y="4800600"/>
            <a:ext cx="2743200" cy="914400"/>
          </a:xfrm>
          <a:prstGeom prst="rect">
            <a:avLst/>
          </a:prstGeom>
          <a:noFill/>
        </p:spPr>
        <p:txBody>
          <a:bodyPr wrap="square" lIns="0" rIns="0" tIns="0" bIns="0" anchor="t">
            <a:spAutoFit/>
          </a:bodyPr>
          <a:lstStyle/>
          <a:p>
            <a:pPr algn="l">
              <a:spcAft>
                <a:spcPts val="0"/>
              </a:spcAft>
            </a:pPr>
            <a:r>
              <a:rPr sz="5400" b="0">
                <a:solidFill>
                  <a:srgbClr val="E0442A"/>
                </a:solidFill>
                <a:latin typeface="Bahnschrift Light"/>
              </a:rPr>
              <a:t>−68%</a:t>
            </a:r>
          </a:p>
        </p:txBody>
      </p:sp>
      <p:sp>
        <p:nvSpPr>
          <p:cNvPr id="51" name="TextBox 50"/>
          <p:cNvSpPr txBox="1"/>
          <p:nvPr/>
        </p:nvSpPr>
        <p:spPr>
          <a:xfrm>
            <a:off x="8549640" y="4956048"/>
            <a:ext cx="3017520" cy="822960"/>
          </a:xfrm>
          <a:prstGeom prst="rect">
            <a:avLst/>
          </a:prstGeom>
          <a:noFill/>
        </p:spPr>
        <p:txBody>
          <a:bodyPr wrap="square" lIns="0" rIns="0" tIns="0" bIns="0" anchor="t">
            <a:spAutoFit/>
          </a:bodyPr>
          <a:lstStyle/>
          <a:p>
            <a:pPr algn="l">
              <a:lnSpc>
                <a:spcPct val="110000"/>
              </a:lnSpc>
              <a:spcAft>
                <a:spcPts val="0"/>
              </a:spcAft>
            </a:pPr>
            <a:r>
              <a:rPr sz="1150" b="0">
                <a:solidFill>
                  <a:srgbClr val="4A4D52"/>
                </a:solidFill>
                <a:latin typeface="Bahnschrift"/>
              </a:rPr>
              <a:t>walking: the best layout plus layout-aware smart batching, on the same orders.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10</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8869451"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§10  </a:t>
            </a:r>
            <a:r>
              <a:rPr sz="1100" b="1" spc="220">
                <a:solidFill>
                  <a:srgbClr val="E0442A"/>
                </a:solidFill>
                <a:latin typeface="Bahnschrift SemiCondensed"/>
              </a:rPr>
              <a:t>A TEAM OF PICKERS</a:t>
            </a:r>
          </a:p>
        </p:txBody>
      </p:sp>
      <p:sp>
        <p:nvSpPr>
          <p:cNvPr id="10" name="!!title"/>
          <p:cNvSpPr txBox="1"/>
          <p:nvPr/>
        </p:nvSpPr>
        <p:spPr>
          <a:xfrm>
            <a:off x="548640" y="1261872"/>
            <a:ext cx="4572000" cy="1280160"/>
          </a:xfrm>
          <a:prstGeom prst="rect">
            <a:avLst/>
          </a:prstGeom>
          <a:noFill/>
        </p:spPr>
        <p:txBody>
          <a:bodyPr wrap="square" lIns="0" rIns="0" tIns="0" bIns="0" anchor="t">
            <a:spAutoFit/>
          </a:bodyPr>
          <a:lstStyle/>
          <a:p>
            <a:pPr algn="l">
              <a:lnSpc>
                <a:spcPct val="92000"/>
              </a:lnSpc>
              <a:spcAft>
                <a:spcPts val="0"/>
              </a:spcAft>
            </a:pPr>
            <a:r>
              <a:rPr sz="3600" b="0">
                <a:solidFill>
                  <a:srgbClr val="1F2226"/>
                </a:solidFill>
                <a:latin typeface="Bahnschrift SemiBold"/>
              </a:rPr>
              <a:t>More pickers,
more queueing</a:t>
            </a:r>
          </a:p>
        </p:txBody>
      </p:sp>
      <p:sp>
        <p:nvSpPr>
          <p:cNvPr id="11" name="!!body"/>
          <p:cNvSpPr txBox="1"/>
          <p:nvPr/>
        </p:nvSpPr>
        <p:spPr>
          <a:xfrm>
            <a:off x="548640" y="2514600"/>
            <a:ext cx="4206240" cy="1280160"/>
          </a:xfrm>
          <a:prstGeom prst="rect">
            <a:avLst/>
          </a:prstGeom>
          <a:noFill/>
        </p:spPr>
        <p:txBody>
          <a:bodyPr wrap="square" lIns="0" rIns="0" tIns="0" bIns="0" anchor="t">
            <a:spAutoFit/>
          </a:bodyPr>
          <a:lstStyle/>
          <a:p>
            <a:pPr algn="l">
              <a:lnSpc>
                <a:spcPct val="112000"/>
              </a:lnSpc>
              <a:spcAft>
                <a:spcPts val="0"/>
              </a:spcAft>
            </a:pPr>
            <a:r>
              <a:rPr sz="1350" b="0">
                <a:solidFill>
                  <a:srgbClr val="4A4D52"/>
                </a:solidFill>
                <a:latin typeface="Bahnschrift"/>
              </a:rPr>
              <a:t>Up to six pickers clear the month's backlog together. A narrow aisle fits one cart, so the next picker waits at the entrance.</a:t>
            </a:r>
          </a:p>
        </p:txBody>
      </p:sp>
      <p:sp>
        <p:nvSpPr>
          <p:cNvPr id="12" name="!!num"/>
          <p:cNvSpPr txBox="1"/>
          <p:nvPr/>
        </p:nvSpPr>
        <p:spPr>
          <a:xfrm>
            <a:off x="548640" y="3520440"/>
            <a:ext cx="2743200" cy="822960"/>
          </a:xfrm>
          <a:prstGeom prst="rect">
            <a:avLst/>
          </a:prstGeom>
          <a:noFill/>
        </p:spPr>
        <p:txBody>
          <a:bodyPr wrap="square" lIns="0" rIns="0" tIns="0" bIns="0" anchor="t">
            <a:spAutoFit/>
          </a:bodyPr>
          <a:lstStyle/>
          <a:p>
            <a:pPr algn="l">
              <a:spcAft>
                <a:spcPts val="0"/>
              </a:spcAft>
            </a:pPr>
            <a:r>
              <a:rPr sz="6000" b="0">
                <a:solidFill>
                  <a:srgbClr val="E0442A"/>
                </a:solidFill>
                <a:latin typeface="Bahnschrift Light"/>
              </a:rPr>
              <a:t>23%</a:t>
            </a:r>
          </a:p>
        </p:txBody>
      </p:sp>
      <p:sp>
        <p:nvSpPr>
          <p:cNvPr id="13" name="!!sub"/>
          <p:cNvSpPr txBox="1"/>
          <p:nvPr/>
        </p:nvSpPr>
        <p:spPr>
          <a:xfrm>
            <a:off x="548640" y="4370832"/>
            <a:ext cx="4206240" cy="274320"/>
          </a:xfrm>
          <a:prstGeom prst="rect">
            <a:avLst/>
          </a:prstGeom>
          <a:noFill/>
        </p:spPr>
        <p:txBody>
          <a:bodyPr wrap="square" lIns="0" rIns="0" tIns="0" bIns="0" anchor="t">
            <a:spAutoFit/>
          </a:bodyPr>
          <a:lstStyle/>
          <a:p>
            <a:pPr algn="l">
              <a:spcAft>
                <a:spcPts val="0"/>
              </a:spcAft>
            </a:pPr>
            <a:r>
              <a:rPr sz="1050" b="0">
                <a:solidFill>
                  <a:srgbClr val="4A4D52"/>
                </a:solidFill>
                <a:latin typeface="Cascadia Mono"/>
              </a:rPr>
              <a:t>of a 4-picker team's capacity lost in narrow aisles</a:t>
            </a:r>
          </a:p>
        </p:txBody>
      </p:sp>
      <p:sp>
        <p:nvSpPr>
          <p:cNvPr id="14" name="Rectangle 13"/>
          <p:cNvSpPr/>
          <p:nvPr/>
        </p:nvSpPr>
        <p:spPr>
          <a:xfrm>
            <a:off x="548640" y="4846320"/>
            <a:ext cx="420624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919472"/>
            <a:ext cx="4206240" cy="274320"/>
          </a:xfrm>
          <a:prstGeom prst="rect">
            <a:avLst/>
          </a:prstGeom>
          <a:noFill/>
        </p:spPr>
        <p:txBody>
          <a:bodyPr wrap="square" lIns="0" rIns="0" tIns="0" bIns="0" anchor="t">
            <a:spAutoFit/>
          </a:bodyPr>
          <a:lstStyle/>
          <a:p>
            <a:pPr algn="l">
              <a:spcAft>
                <a:spcPts val="0"/>
              </a:spcAft>
            </a:pPr>
            <a:r>
              <a:rPr sz="1300" b="0">
                <a:solidFill>
                  <a:srgbClr val="1F2226"/>
                </a:solidFill>
                <a:latin typeface="Bahnschrift SemiBold"/>
              </a:rPr>
              <a:t>6 pickers</a:t>
            </a:r>
          </a:p>
        </p:txBody>
      </p:sp>
      <p:sp>
        <p:nvSpPr>
          <p:cNvPr id="16" name="TextBox 15"/>
          <p:cNvSpPr txBox="1"/>
          <p:nvPr/>
        </p:nvSpPr>
        <p:spPr>
          <a:xfrm>
            <a:off x="548640" y="5175504"/>
            <a:ext cx="4206240" cy="274320"/>
          </a:xfrm>
          <a:prstGeom prst="rect">
            <a:avLst/>
          </a:prstGeom>
          <a:noFill/>
        </p:spPr>
        <p:txBody>
          <a:bodyPr wrap="square" lIns="0" rIns="0" tIns="0" bIns="0" anchor="t">
            <a:spAutoFit/>
          </a:bodyPr>
          <a:lstStyle/>
          <a:p>
            <a:pPr algn="l">
              <a:spcAft>
                <a:spcPts val="0"/>
              </a:spcAft>
            </a:pPr>
            <a:r>
              <a:rPr sz="1050" b="0">
                <a:solidFill>
                  <a:srgbClr val="4A4D52"/>
                </a:solidFill>
                <a:latin typeface="Bahnschrift"/>
              </a:rPr>
              <a:t>35% lost; month in 22.6 h vs 15.7 h with wide aisles</a:t>
            </a:r>
          </a:p>
        </p:txBody>
      </p:sp>
      <p:sp>
        <p:nvSpPr>
          <p:cNvPr id="17" name="Rectangle 16"/>
          <p:cNvSpPr/>
          <p:nvPr/>
        </p:nvSpPr>
        <p:spPr>
          <a:xfrm>
            <a:off x="548640" y="5413248"/>
            <a:ext cx="420624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486400"/>
            <a:ext cx="4206240" cy="274320"/>
          </a:xfrm>
          <a:prstGeom prst="rect">
            <a:avLst/>
          </a:prstGeom>
          <a:noFill/>
        </p:spPr>
        <p:txBody>
          <a:bodyPr wrap="square" lIns="0" rIns="0" tIns="0" bIns="0" anchor="t">
            <a:spAutoFit/>
          </a:bodyPr>
          <a:lstStyle/>
          <a:p>
            <a:pPr algn="l">
              <a:spcAft>
                <a:spcPts val="0"/>
              </a:spcAft>
            </a:pPr>
            <a:r>
              <a:rPr sz="1300" b="0">
                <a:solidFill>
                  <a:srgbClr val="1F2226"/>
                </a:solidFill>
                <a:latin typeface="Bahnschrift SemiBold"/>
              </a:rPr>
              <a:t>Slotting vs people</a:t>
            </a:r>
          </a:p>
        </p:txBody>
      </p:sp>
      <p:sp>
        <p:nvSpPr>
          <p:cNvPr id="19" name="TextBox 18"/>
          <p:cNvSpPr txBox="1"/>
          <p:nvPr/>
        </p:nvSpPr>
        <p:spPr>
          <a:xfrm>
            <a:off x="548640" y="5742432"/>
            <a:ext cx="4206240" cy="274320"/>
          </a:xfrm>
          <a:prstGeom prst="rect">
            <a:avLst/>
          </a:prstGeom>
          <a:noFill/>
        </p:spPr>
        <p:txBody>
          <a:bodyPr wrap="square" lIns="0" rIns="0" tIns="0" bIns="0" anchor="t">
            <a:spAutoFit/>
          </a:bodyPr>
          <a:lstStyle/>
          <a:p>
            <a:pPr algn="l">
              <a:spcAft>
                <a:spcPts val="0"/>
              </a:spcAft>
            </a:pPr>
            <a:r>
              <a:rPr sz="1050" b="0">
                <a:solidFill>
                  <a:srgbClr val="4A4D52"/>
                </a:solidFill>
                <a:latin typeface="Bahnschrift"/>
              </a:rPr>
              <a:t>Optimized leads by +9% with 1 picker, +5% with 6</a:t>
            </a:r>
          </a:p>
        </p:txBody>
      </p:sp>
      <p:graphicFrame>
        <p:nvGraphicFramePr>
          <p:cNvPr id="20" name="!!chart"/>
          <p:cNvGraphicFramePr>
            <a:graphicFrameLocks noGrp="1"/>
          </p:cNvGraphicFramePr>
          <p:nvPr/>
        </p:nvGraphicFramePr>
        <p:xfrm>
          <a:off x="5120640" y="914400"/>
          <a:ext cx="3886200" cy="5074920"/>
        </p:xfrm>
        <a:graphic>
          <a:graphicData uri="http://schemas.openxmlformats.org/drawingml/2006/chart">
            <c:chart xmlns:c="http://schemas.openxmlformats.org/drawingml/2006/chart" r:id="rId3"/>
          </a:graphicData>
        </a:graphic>
      </p:graphicFrame>
      <p:sp>
        <p:nvSpPr>
          <p:cNvPr id="21" name="Rectangle 20"/>
          <p:cNvSpPr/>
          <p:nvPr/>
        </p:nvSpPr>
        <p:spPr>
          <a:xfrm>
            <a:off x="9299448" y="1252728"/>
            <a:ext cx="2395728" cy="1347597"/>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pp_team.jpg"/>
          <p:cNvPicPr>
            <a:picLocks noChangeAspect="1"/>
          </p:cNvPicPr>
          <p:nvPr/>
        </p:nvPicPr>
        <p:blipFill>
          <a:blip r:embed="rId4"/>
          <a:stretch>
            <a:fillRect/>
          </a:stretch>
        </p:blipFill>
        <p:spPr>
          <a:xfrm>
            <a:off x="9235440" y="1188720"/>
            <a:ext cx="2395728" cy="1347597"/>
          </a:xfrm>
          <a:prstGeom prst="rect">
            <a:avLst/>
          </a:prstGeom>
          <a:ln w="12700">
            <a:solidFill>
              <a:srgbClr val="1F2226"/>
            </a:solidFill>
          </a:ln>
        </p:spPr>
      </p:pic>
      <p:sp>
        <p:nvSpPr>
          <p:cNvPr id="23" name="TextBox 22"/>
          <p:cNvSpPr txBox="1"/>
          <p:nvPr/>
        </p:nvSpPr>
        <p:spPr>
          <a:xfrm>
            <a:off x="9235440" y="2606040"/>
            <a:ext cx="2395728" cy="1097280"/>
          </a:xfrm>
          <a:prstGeom prst="rect">
            <a:avLst/>
          </a:prstGeom>
          <a:noFill/>
        </p:spPr>
        <p:txBody>
          <a:bodyPr wrap="square" lIns="0" rIns="0" tIns="0" bIns="0" anchor="t">
            <a:spAutoFit/>
          </a:bodyPr>
          <a:lstStyle/>
          <a:p>
            <a:pPr algn="l">
              <a:lnSpc>
                <a:spcPct val="110000"/>
              </a:lnSpc>
              <a:spcAft>
                <a:spcPts val="0"/>
              </a:spcAft>
            </a:pPr>
            <a:r>
              <a:rPr sz="950" b="0">
                <a:solidFill>
                  <a:srgbClr val="4A4D52"/>
                </a:solidFill>
                <a:latin typeface="Bahnschrift"/>
              </a:rPr>
              <a:t>In the app: numbered pickers, a pulsing ring while queued, live waiting share and aisle-blocked IoT events.</a:t>
            </a:r>
          </a:p>
        </p:txBody>
      </p:sp>
      <p:sp>
        <p:nvSpPr>
          <p:cNvPr id="24" name="TextBox 23"/>
          <p:cNvSpPr txBox="1"/>
          <p:nvPr/>
        </p:nvSpPr>
        <p:spPr>
          <a:xfrm>
            <a:off x="9235440" y="3840480"/>
            <a:ext cx="2395728" cy="1463040"/>
          </a:xfrm>
          <a:prstGeom prst="rect">
            <a:avLst/>
          </a:prstGeom>
          <a:noFill/>
        </p:spPr>
        <p:txBody>
          <a:bodyPr wrap="square" lIns="0" rIns="0" tIns="0" bIns="0" anchor="t">
            <a:spAutoFit/>
          </a:bodyPr>
          <a:lstStyle/>
          <a:p>
            <a:pPr algn="l">
              <a:lnSpc>
                <a:spcPct val="110000"/>
              </a:lnSpc>
              <a:spcAft>
                <a:spcPts val="0"/>
              </a:spcAft>
            </a:pPr>
            <a:r>
              <a:rPr sz="950" b="0">
                <a:solidFill>
                  <a:srgbClr val="1F2226"/>
                </a:solidFill>
                <a:latin typeface="Bahnschrift SemiBold"/>
              </a:rPr>
              <a:t>Backlog model. </a:t>
            </a:r>
            <a:r>
              <a:rPr sz="950" b="0">
                <a:solidFill>
                  <a:srgbClr val="4A4D52"/>
                </a:solidFill>
                <a:latin typeface="Bahnschrift"/>
              </a:rPr>
              <a:t>Same 2,293 orders, one queue; each picker takes the next trip at the dock. Deterministic, 0.5 s steps.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11</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9793986"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§11  </a:t>
            </a:r>
            <a:r>
              <a:rPr sz="1100" b="1" spc="220">
                <a:solidFill>
                  <a:srgbClr val="E0442A"/>
                </a:solidFill>
                <a:latin typeface="Bahnschrift SemiCondensed"/>
              </a:rPr>
              <a:t>PLAY IT</a:t>
            </a:r>
          </a:p>
        </p:txBody>
      </p:sp>
      <p:sp>
        <p:nvSpPr>
          <p:cNvPr id="10" name="!!title"/>
          <p:cNvSpPr txBox="1"/>
          <p:nvPr/>
        </p:nvSpPr>
        <p:spPr>
          <a:xfrm>
            <a:off x="548640" y="1261872"/>
            <a:ext cx="4206240" cy="1280160"/>
          </a:xfrm>
          <a:prstGeom prst="rect">
            <a:avLst/>
          </a:prstGeom>
          <a:noFill/>
        </p:spPr>
        <p:txBody>
          <a:bodyPr wrap="square" lIns="0" rIns="0" tIns="0" bIns="0" anchor="t">
            <a:spAutoFit/>
          </a:bodyPr>
          <a:lstStyle/>
          <a:p>
            <a:pPr algn="l">
              <a:lnSpc>
                <a:spcPct val="92000"/>
              </a:lnSpc>
              <a:spcAft>
                <a:spcPts val="0"/>
              </a:spcAft>
            </a:pPr>
            <a:r>
              <a:rPr sz="3600" b="0">
                <a:solidFill>
                  <a:srgbClr val="1F2226"/>
                </a:solidFill>
                <a:latin typeface="Bahnschrift SemiBold"/>
              </a:rPr>
              <a:t>Can you beat
the optimizer?</a:t>
            </a:r>
          </a:p>
        </p:txBody>
      </p:sp>
      <p:sp>
        <p:nvSpPr>
          <p:cNvPr id="11" name="Rectangle 10"/>
          <p:cNvSpPr/>
          <p:nvPr/>
        </p:nvSpPr>
        <p:spPr>
          <a:xfrm>
            <a:off x="4864608" y="978408"/>
            <a:ext cx="6812280" cy="3831907"/>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hero" descr="app_game.jpg"/>
          <p:cNvPicPr>
            <a:picLocks noChangeAspect="1"/>
          </p:cNvPicPr>
          <p:nvPr/>
        </p:nvPicPr>
        <p:blipFill>
          <a:blip r:embed="rId3"/>
          <a:stretch>
            <a:fillRect/>
          </a:stretch>
        </p:blipFill>
        <p:spPr>
          <a:xfrm>
            <a:off x="4800600" y="914400"/>
            <a:ext cx="6812280" cy="3831908"/>
          </a:xfrm>
          <a:prstGeom prst="rect">
            <a:avLst/>
          </a:prstGeom>
          <a:ln w="12700">
            <a:solidFill>
              <a:srgbClr val="1F2226"/>
            </a:solidFill>
          </a:ln>
        </p:spPr>
      </p:pic>
      <p:sp>
        <p:nvSpPr>
          <p:cNvPr id="13" name="Rectangle 12"/>
          <p:cNvSpPr/>
          <p:nvPr/>
        </p:nvSpPr>
        <p:spPr>
          <a:xfrm>
            <a:off x="548640" y="2514600"/>
            <a:ext cx="3931920"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06040"/>
            <a:ext cx="457200" cy="274320"/>
          </a:xfrm>
          <a:prstGeom prst="rect">
            <a:avLst/>
          </a:prstGeom>
          <a:noFill/>
        </p:spPr>
        <p:txBody>
          <a:bodyPr wrap="square" lIns="0" rIns="0" tIns="0" bIns="0" anchor="t">
            <a:spAutoFit/>
          </a:bodyPr>
          <a:lstStyle/>
          <a:p>
            <a:pPr algn="l">
              <a:spcAft>
                <a:spcPts val="0"/>
              </a:spcAft>
            </a:pPr>
            <a:r>
              <a:rPr sz="1000" b="0">
                <a:solidFill>
                  <a:srgbClr val="E0442A"/>
                </a:solidFill>
                <a:latin typeface="Cascadia Mono"/>
              </a:rPr>
              <a:t>01</a:t>
            </a:r>
          </a:p>
        </p:txBody>
      </p:sp>
      <p:sp>
        <p:nvSpPr>
          <p:cNvPr id="15" name="TextBox 14"/>
          <p:cNvSpPr txBox="1"/>
          <p:nvPr/>
        </p:nvSpPr>
        <p:spPr>
          <a:xfrm>
            <a:off x="1005840" y="2578608"/>
            <a:ext cx="3474720" cy="274320"/>
          </a:xfrm>
          <a:prstGeom prst="rect">
            <a:avLst/>
          </a:prstGeom>
          <a:noFill/>
        </p:spPr>
        <p:txBody>
          <a:bodyPr wrap="square" lIns="0" rIns="0" tIns="0" bIns="0" anchor="t">
            <a:spAutoFit/>
          </a:bodyPr>
          <a:lstStyle/>
          <a:p>
            <a:pPr algn="l">
              <a:spcAft>
                <a:spcPts val="0"/>
              </a:spcAft>
            </a:pPr>
            <a:r>
              <a:rPr sz="1400" b="0">
                <a:solidFill>
                  <a:srgbClr val="1F2226"/>
                </a:solidFill>
                <a:latin typeface="Bahnschrift SemiBold"/>
              </a:rPr>
              <a:t>Swap racks</a:t>
            </a:r>
          </a:p>
        </p:txBody>
      </p:sp>
      <p:sp>
        <p:nvSpPr>
          <p:cNvPr id="16" name="TextBox 15"/>
          <p:cNvSpPr txBox="1"/>
          <p:nvPr/>
        </p:nvSpPr>
        <p:spPr>
          <a:xfrm>
            <a:off x="1005840" y="2880360"/>
            <a:ext cx="3474720" cy="411480"/>
          </a:xfrm>
          <a:prstGeom prst="rect">
            <a:avLst/>
          </a:prstGeom>
          <a:noFill/>
        </p:spPr>
        <p:txBody>
          <a:bodyPr wrap="square" lIns="0" rIns="0" tIns="0" bIns="0" anchor="t">
            <a:spAutoFit/>
          </a:bodyPr>
          <a:lstStyle/>
          <a:p>
            <a:pPr algn="l">
              <a:lnSpc>
                <a:spcPct val="105000"/>
              </a:lnSpc>
              <a:spcAft>
                <a:spcPts val="0"/>
              </a:spcAft>
            </a:pPr>
            <a:r>
              <a:rPr sz="1050" b="0">
                <a:solidFill>
                  <a:srgbClr val="4A4D52"/>
                </a:solidFill>
                <a:latin typeface="Bahnschrift"/>
              </a:rPr>
              <a:t>The month re-scores instantly; ◆ marks what is bought together.</a:t>
            </a:r>
          </a:p>
        </p:txBody>
      </p:sp>
      <p:sp>
        <p:nvSpPr>
          <p:cNvPr id="17" name="Rectangle 16"/>
          <p:cNvSpPr/>
          <p:nvPr/>
        </p:nvSpPr>
        <p:spPr>
          <a:xfrm>
            <a:off x="548640" y="3300984"/>
            <a:ext cx="393192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392424"/>
            <a:ext cx="457200" cy="274320"/>
          </a:xfrm>
          <a:prstGeom prst="rect">
            <a:avLst/>
          </a:prstGeom>
          <a:noFill/>
        </p:spPr>
        <p:txBody>
          <a:bodyPr wrap="square" lIns="0" rIns="0" tIns="0" bIns="0" anchor="t">
            <a:spAutoFit/>
          </a:bodyPr>
          <a:lstStyle/>
          <a:p>
            <a:pPr algn="l">
              <a:spcAft>
                <a:spcPts val="0"/>
              </a:spcAft>
            </a:pPr>
            <a:r>
              <a:rPr sz="1000" b="0">
                <a:solidFill>
                  <a:srgbClr val="E0442A"/>
                </a:solidFill>
                <a:latin typeface="Cascadia Mono"/>
              </a:rPr>
              <a:t>02</a:t>
            </a:r>
          </a:p>
        </p:txBody>
      </p:sp>
      <p:sp>
        <p:nvSpPr>
          <p:cNvPr id="19" name="TextBox 18"/>
          <p:cNvSpPr txBox="1"/>
          <p:nvPr/>
        </p:nvSpPr>
        <p:spPr>
          <a:xfrm>
            <a:off x="1005840" y="3364991"/>
            <a:ext cx="3474720" cy="274320"/>
          </a:xfrm>
          <a:prstGeom prst="rect">
            <a:avLst/>
          </a:prstGeom>
          <a:noFill/>
        </p:spPr>
        <p:txBody>
          <a:bodyPr wrap="square" lIns="0" rIns="0" tIns="0" bIns="0" anchor="t">
            <a:spAutoFit/>
          </a:bodyPr>
          <a:lstStyle/>
          <a:p>
            <a:pPr algn="l">
              <a:spcAft>
                <a:spcPts val="0"/>
              </a:spcAft>
            </a:pPr>
            <a:r>
              <a:rPr sz="1400" b="0">
                <a:solidFill>
                  <a:srgbClr val="1F2226"/>
                </a:solidFill>
                <a:latin typeface="Bahnschrift SemiBold"/>
              </a:rPr>
              <a:t>Live optimizer</a:t>
            </a:r>
          </a:p>
        </p:txBody>
      </p:sp>
      <p:sp>
        <p:nvSpPr>
          <p:cNvPr id="20" name="TextBox 19"/>
          <p:cNvSpPr txBox="1"/>
          <p:nvPr/>
        </p:nvSpPr>
        <p:spPr>
          <a:xfrm>
            <a:off x="1005840" y="3666744"/>
            <a:ext cx="3474720" cy="411480"/>
          </a:xfrm>
          <a:prstGeom prst="rect">
            <a:avLst/>
          </a:prstGeom>
          <a:noFill/>
        </p:spPr>
        <p:txBody>
          <a:bodyPr wrap="square" lIns="0" rIns="0" tIns="0" bIns="0" anchor="t">
            <a:spAutoFit/>
          </a:bodyPr>
          <a:lstStyle/>
          <a:p>
            <a:pPr algn="l">
              <a:lnSpc>
                <a:spcPct val="105000"/>
              </a:lnSpc>
              <a:spcAft>
                <a:spcPts val="0"/>
              </a:spcAft>
            </a:pPr>
            <a:r>
              <a:rPr sz="1050" b="0">
                <a:solidFill>
                  <a:srgbClr val="4A4D52"/>
                </a:solidFill>
                <a:latin typeface="Bahnschrift"/>
              </a:rPr>
              <a:t>Annealing in a Web Worker on your layout. Here: 182.3 km in 14 s.</a:t>
            </a:r>
          </a:p>
        </p:txBody>
      </p:sp>
      <p:sp>
        <p:nvSpPr>
          <p:cNvPr id="21" name="Rectangle 20"/>
          <p:cNvSpPr/>
          <p:nvPr/>
        </p:nvSpPr>
        <p:spPr>
          <a:xfrm>
            <a:off x="548640" y="4087368"/>
            <a:ext cx="393192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178807"/>
            <a:ext cx="457200" cy="274320"/>
          </a:xfrm>
          <a:prstGeom prst="rect">
            <a:avLst/>
          </a:prstGeom>
          <a:noFill/>
        </p:spPr>
        <p:txBody>
          <a:bodyPr wrap="square" lIns="0" rIns="0" tIns="0" bIns="0" anchor="t">
            <a:spAutoFit/>
          </a:bodyPr>
          <a:lstStyle/>
          <a:p>
            <a:pPr algn="l">
              <a:spcAft>
                <a:spcPts val="0"/>
              </a:spcAft>
            </a:pPr>
            <a:r>
              <a:rPr sz="1000" b="0">
                <a:solidFill>
                  <a:srgbClr val="E0442A"/>
                </a:solidFill>
                <a:latin typeface="Cascadia Mono"/>
              </a:rPr>
              <a:t>03</a:t>
            </a:r>
          </a:p>
        </p:txBody>
      </p:sp>
      <p:sp>
        <p:nvSpPr>
          <p:cNvPr id="23" name="TextBox 22"/>
          <p:cNvSpPr txBox="1"/>
          <p:nvPr/>
        </p:nvSpPr>
        <p:spPr>
          <a:xfrm>
            <a:off x="1005840" y="4151376"/>
            <a:ext cx="3474720" cy="274320"/>
          </a:xfrm>
          <a:prstGeom prst="rect">
            <a:avLst/>
          </a:prstGeom>
          <a:noFill/>
        </p:spPr>
        <p:txBody>
          <a:bodyPr wrap="square" lIns="0" rIns="0" tIns="0" bIns="0" anchor="t">
            <a:spAutoFit/>
          </a:bodyPr>
          <a:lstStyle/>
          <a:p>
            <a:pPr algn="l">
              <a:spcAft>
                <a:spcPts val="0"/>
              </a:spcAft>
            </a:pPr>
            <a:r>
              <a:rPr sz="1400" b="0">
                <a:solidFill>
                  <a:srgbClr val="1F2226"/>
                </a:solidFill>
                <a:latin typeface="Bahnschrift SemiBold"/>
              </a:rPr>
              <a:t>Team mode</a:t>
            </a:r>
          </a:p>
        </p:txBody>
      </p:sp>
      <p:sp>
        <p:nvSpPr>
          <p:cNvPr id="24" name="TextBox 23"/>
          <p:cNvSpPr txBox="1"/>
          <p:nvPr/>
        </p:nvSpPr>
        <p:spPr>
          <a:xfrm>
            <a:off x="1005840" y="4453128"/>
            <a:ext cx="3474720" cy="411480"/>
          </a:xfrm>
          <a:prstGeom prst="rect">
            <a:avLst/>
          </a:prstGeom>
          <a:noFill/>
        </p:spPr>
        <p:txBody>
          <a:bodyPr wrap="square" lIns="0" rIns="0" tIns="0" bIns="0" anchor="t">
            <a:spAutoFit/>
          </a:bodyPr>
          <a:lstStyle/>
          <a:p>
            <a:pPr algn="l">
              <a:lnSpc>
                <a:spcPct val="105000"/>
              </a:lnSpc>
              <a:spcAft>
                <a:spcPts val="0"/>
              </a:spcAft>
            </a:pPr>
            <a:r>
              <a:rPr sz="1050" b="0">
                <a:solidFill>
                  <a:srgbClr val="4A4D52"/>
                </a:solidFill>
                <a:latin typeface="Bahnschrift"/>
              </a:rPr>
              <a:t>1–6 pickers with aisle congestion; watch them queue.</a:t>
            </a:r>
          </a:p>
        </p:txBody>
      </p:sp>
      <p:sp>
        <p:nvSpPr>
          <p:cNvPr id="25" name="Rectangle 24"/>
          <p:cNvSpPr/>
          <p:nvPr/>
        </p:nvSpPr>
        <p:spPr>
          <a:xfrm>
            <a:off x="548640" y="4873752"/>
            <a:ext cx="3931920"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65192"/>
            <a:ext cx="457200" cy="274320"/>
          </a:xfrm>
          <a:prstGeom prst="rect">
            <a:avLst/>
          </a:prstGeom>
          <a:noFill/>
        </p:spPr>
        <p:txBody>
          <a:bodyPr wrap="square" lIns="0" rIns="0" tIns="0" bIns="0" anchor="t">
            <a:spAutoFit/>
          </a:bodyPr>
          <a:lstStyle/>
          <a:p>
            <a:pPr algn="l">
              <a:spcAft>
                <a:spcPts val="0"/>
              </a:spcAft>
            </a:pPr>
            <a:r>
              <a:rPr sz="1000" b="0">
                <a:solidFill>
                  <a:srgbClr val="E0442A"/>
                </a:solidFill>
                <a:latin typeface="Cascadia Mono"/>
              </a:rPr>
              <a:t>04</a:t>
            </a:r>
          </a:p>
        </p:txBody>
      </p:sp>
      <p:sp>
        <p:nvSpPr>
          <p:cNvPr id="27" name="TextBox 26"/>
          <p:cNvSpPr txBox="1"/>
          <p:nvPr/>
        </p:nvSpPr>
        <p:spPr>
          <a:xfrm>
            <a:off x="1005840" y="4937760"/>
            <a:ext cx="3474720" cy="274320"/>
          </a:xfrm>
          <a:prstGeom prst="rect">
            <a:avLst/>
          </a:prstGeom>
          <a:noFill/>
        </p:spPr>
        <p:txBody>
          <a:bodyPr wrap="square" lIns="0" rIns="0" tIns="0" bIns="0" anchor="t">
            <a:spAutoFit/>
          </a:bodyPr>
          <a:lstStyle/>
          <a:p>
            <a:pPr algn="l">
              <a:spcAft>
                <a:spcPts val="0"/>
              </a:spcAft>
            </a:pPr>
            <a:r>
              <a:rPr sz="1400" b="0">
                <a:solidFill>
                  <a:srgbClr val="1F2226"/>
                </a:solidFill>
                <a:latin typeface="Bahnschrift SemiBold"/>
              </a:rPr>
              <a:t>IoT sensor mode</a:t>
            </a:r>
          </a:p>
        </p:txBody>
      </p:sp>
      <p:sp>
        <p:nvSpPr>
          <p:cNvPr id="28" name="TextBox 27"/>
          <p:cNvSpPr txBox="1"/>
          <p:nvPr/>
        </p:nvSpPr>
        <p:spPr>
          <a:xfrm>
            <a:off x="1005840" y="5239512"/>
            <a:ext cx="3474720" cy="411480"/>
          </a:xfrm>
          <a:prstGeom prst="rect">
            <a:avLst/>
          </a:prstGeom>
          <a:noFill/>
        </p:spPr>
        <p:txBody>
          <a:bodyPr wrap="square" lIns="0" rIns="0" tIns="0" bIns="0" anchor="t">
            <a:spAutoFit/>
          </a:bodyPr>
          <a:lstStyle/>
          <a:p>
            <a:pPr algn="l">
              <a:lnSpc>
                <a:spcPct val="105000"/>
              </a:lnSpc>
              <a:spcAft>
                <a:spcPts val="0"/>
              </a:spcAft>
            </a:pPr>
            <a:r>
              <a:rPr sz="1050" b="0">
                <a:solidFill>
                  <a:srgbClr val="4A4D52"/>
                </a:solidFill>
                <a:latin typeface="Bahnschrift"/>
              </a:rPr>
              <a:t>RFID, UWB, pick-to-light and scan events, exported as JSON Lines.</a:t>
            </a:r>
          </a:p>
        </p:txBody>
      </p:sp>
      <p:sp>
        <p:nvSpPr>
          <p:cNvPr id="29" name="TextBox 28"/>
          <p:cNvSpPr txBox="1"/>
          <p:nvPr/>
        </p:nvSpPr>
        <p:spPr>
          <a:xfrm>
            <a:off x="548640" y="5760720"/>
            <a:ext cx="4023360" cy="274320"/>
          </a:xfrm>
          <a:prstGeom prst="rect">
            <a:avLst/>
          </a:prstGeom>
          <a:noFill/>
        </p:spPr>
        <p:txBody>
          <a:bodyPr wrap="square" lIns="0" rIns="0" tIns="0" bIns="0" anchor="t">
            <a:spAutoFit/>
          </a:bodyPr>
          <a:lstStyle/>
          <a:p>
            <a:pPr algn="l">
              <a:spcAft>
                <a:spcPts val="0"/>
              </a:spcAft>
            </a:pPr>
            <a:r>
              <a:rPr sz="850" b="0">
                <a:solidFill>
                  <a:srgbClr val="7D786C"/>
                </a:solidFill>
                <a:latin typeface="Cascadia Mono"/>
              </a:rPr>
              <a:t>Space replay · 1–5 layouts · H heat · B batch · I IoT · O optimize</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EADB"/>
        </a:solidFill>
        <a:effectLst/>
      </p:bgPr>
    </p:bg>
    <p:spTree>
      <p:nvGrpSpPr>
        <p:cNvPr id="1" name=""/>
        <p:cNvGrpSpPr/>
        <p:nvPr/>
      </p:nvGrpSpPr>
      <p:grpSpPr/>
      <p:sp>
        <p:nvSpPr>
          <p:cNvPr id="2" name="!!run"/>
          <p:cNvSpPr txBox="1"/>
          <p:nvPr/>
        </p:nvSpPr>
        <p:spPr>
          <a:xfrm>
            <a:off x="548640" y="310896"/>
            <a:ext cx="6400800" cy="228600"/>
          </a:xfrm>
          <a:prstGeom prst="rect">
            <a:avLst/>
          </a:prstGeom>
          <a:noFill/>
        </p:spPr>
        <p:txBody>
          <a:bodyPr wrap="square" lIns="0" rIns="0" tIns="0" bIns="0" anchor="t">
            <a:spAutoFit/>
          </a:bodyPr>
          <a:lstStyle/>
          <a:p>
            <a:pPr algn="l">
              <a:spcAft>
                <a:spcPts val="0"/>
              </a:spcAft>
            </a:pPr>
            <a:r>
              <a:rPr sz="850" b="0" spc="120">
                <a:solidFill>
                  <a:srgbClr val="4A4D52"/>
                </a:solidFill>
                <a:latin typeface="Cascadia Mono"/>
              </a:rPr>
              <a:t>PICKING FLOOR DIGITAL TWIN</a:t>
            </a:r>
          </a:p>
        </p:txBody>
      </p:sp>
      <p:sp>
        <p:nvSpPr>
          <p:cNvPr id="3" name="!!pno"/>
          <p:cNvSpPr txBox="1"/>
          <p:nvPr/>
        </p:nvSpPr>
        <p:spPr>
          <a:xfrm>
            <a:off x="8899855" y="310896"/>
            <a:ext cx="2743200" cy="228600"/>
          </a:xfrm>
          <a:prstGeom prst="rect">
            <a:avLst/>
          </a:prstGeom>
          <a:noFill/>
        </p:spPr>
        <p:txBody>
          <a:bodyPr wrap="square" lIns="0" rIns="0" tIns="0" bIns="0" anchor="t">
            <a:spAutoFit/>
          </a:bodyPr>
          <a:lstStyle/>
          <a:p>
            <a:pPr algn="r">
              <a:spcAft>
                <a:spcPts val="0"/>
              </a:spcAft>
            </a:pPr>
            <a:r>
              <a:rPr sz="850" b="0">
                <a:solidFill>
                  <a:srgbClr val="E0442A"/>
                </a:solidFill>
                <a:latin typeface="Cascadia Mono"/>
              </a:rPr>
              <a:t>12</a:t>
            </a:r>
            <a:r>
              <a:rPr sz="850" b="0">
                <a:solidFill>
                  <a:srgbClr val="4A4D52"/>
                </a:solidFill>
                <a:latin typeface="Cascadia Mono"/>
              </a:rPr>
              <a:t> / 12</a:t>
            </a:r>
          </a:p>
        </p:txBody>
      </p:sp>
      <p:sp>
        <p:nvSpPr>
          <p:cNvPr id="4" name="!!rule"/>
          <p:cNvSpPr/>
          <p:nvPr/>
        </p:nvSpPr>
        <p:spPr>
          <a:xfrm>
            <a:off x="548640" y="566928"/>
            <a:ext cx="11094415" cy="9525"/>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
          <p:cNvSpPr/>
          <p:nvPr/>
        </p:nvSpPr>
        <p:spPr>
          <a:xfrm>
            <a:off x="548640" y="6382512"/>
            <a:ext cx="11094415" cy="9525"/>
          </a:xfrm>
          <a:prstGeom prst="rect">
            <a:avLst/>
          </a:prstGeom>
          <a:solidFill>
            <a:srgbClr val="D3C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oottxt"/>
          <p:cNvSpPr txBox="1"/>
          <p:nvPr/>
        </p:nvSpPr>
        <p:spPr>
          <a:xfrm>
            <a:off x="548640" y="6473952"/>
            <a:ext cx="7315200" cy="201168"/>
          </a:xfrm>
          <a:prstGeom prst="rect">
            <a:avLst/>
          </a:prstGeom>
          <a:noFill/>
        </p:spPr>
        <p:txBody>
          <a:bodyPr wrap="square" lIns="0" rIns="0" tIns="0" bIns="0" anchor="t">
            <a:spAutoFit/>
          </a:bodyPr>
          <a:lstStyle/>
          <a:p>
            <a:pPr algn="l">
              <a:spcAft>
                <a:spcPts val="0"/>
              </a:spcAft>
            </a:pPr>
            <a:r>
              <a:rPr sz="750" b="0" spc="80">
                <a:solidFill>
                  <a:srgbClr val="7D786C"/>
                </a:solidFill>
                <a:latin typeface="Cascadia Mono"/>
              </a:rPr>
              <a:t>ELECTRO-SOLVE 2026  ·  PS 4.2  ·  SENSE, VIT</a:t>
            </a:r>
          </a:p>
        </p:txBody>
      </p:sp>
      <p:sp>
        <p:nvSpPr>
          <p:cNvPr id="7" name="!!src"/>
          <p:cNvSpPr txBox="1"/>
          <p:nvPr/>
        </p:nvSpPr>
        <p:spPr>
          <a:xfrm>
            <a:off x="7071055" y="6473952"/>
            <a:ext cx="4572000" cy="201168"/>
          </a:xfrm>
          <a:prstGeom prst="rect">
            <a:avLst/>
          </a:prstGeom>
          <a:noFill/>
        </p:spPr>
        <p:txBody>
          <a:bodyPr wrap="square" lIns="0" rIns="0" tIns="0" bIns="0" anchor="t">
            <a:spAutoFit/>
          </a:bodyPr>
          <a:lstStyle/>
          <a:p>
            <a:pPr algn="r">
              <a:spcAft>
                <a:spcPts val="0"/>
              </a:spcAft>
            </a:pPr>
            <a:r>
              <a:rPr sz="750" b="0" spc="80">
                <a:solidFill>
                  <a:srgbClr val="7D786C"/>
                </a:solidFill>
                <a:latin typeface="Cascadia Mono"/>
              </a:rPr>
              <a:t>DATA: ONLINE RETAIL II (UCI, CC BY 4.0)</a:t>
            </a:r>
          </a:p>
        </p:txBody>
      </p:sp>
      <p:sp>
        <p:nvSpPr>
          <p:cNvPr id="8" name="!!prog"/>
          <p:cNvSpPr/>
          <p:nvPr/>
        </p:nvSpPr>
        <p:spPr>
          <a:xfrm>
            <a:off x="10718520" y="548640"/>
            <a:ext cx="924534" cy="45720"/>
          </a:xfrm>
          <a:prstGeom prst="rect">
            <a:avLst/>
          </a:prstGeom>
          <a:solidFill>
            <a:srgbClr val="E04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icker"/>
          <p:cNvSpPr txBox="1"/>
          <p:nvPr/>
        </p:nvSpPr>
        <p:spPr>
          <a:xfrm>
            <a:off x="548640" y="914400"/>
            <a:ext cx="7315200" cy="274320"/>
          </a:xfrm>
          <a:prstGeom prst="rect">
            <a:avLst/>
          </a:prstGeom>
          <a:noFill/>
        </p:spPr>
        <p:txBody>
          <a:bodyPr wrap="square" lIns="0" rIns="0" tIns="0" bIns="0" anchor="t">
            <a:spAutoFit/>
          </a:bodyPr>
          <a:lstStyle/>
          <a:p>
            <a:pPr algn="l">
              <a:spcAft>
                <a:spcPts val="0"/>
              </a:spcAft>
            </a:pPr>
            <a:r>
              <a:rPr sz="1100" b="1">
                <a:solidFill>
                  <a:srgbClr val="7D786C"/>
                </a:solidFill>
                <a:latin typeface="Cascadia Mono"/>
              </a:rPr>
              <a:t>§12  </a:t>
            </a:r>
            <a:r>
              <a:rPr sz="1100" b="1" spc="220">
                <a:solidFill>
                  <a:srgbClr val="E0442A"/>
                </a:solidFill>
                <a:latin typeface="Bahnschrift SemiCondensed"/>
              </a:rPr>
              <a:t>WHAT'S NEXT</a:t>
            </a:r>
          </a:p>
        </p:txBody>
      </p:sp>
      <p:sp>
        <p:nvSpPr>
          <p:cNvPr id="10" name="!!title"/>
          <p:cNvSpPr txBox="1"/>
          <p:nvPr/>
        </p:nvSpPr>
        <p:spPr>
          <a:xfrm>
            <a:off x="548640" y="1261872"/>
            <a:ext cx="4754880" cy="1280160"/>
          </a:xfrm>
          <a:prstGeom prst="rect">
            <a:avLst/>
          </a:prstGeom>
          <a:noFill/>
        </p:spPr>
        <p:txBody>
          <a:bodyPr wrap="square" lIns="0" rIns="0" tIns="0" bIns="0" anchor="t">
            <a:spAutoFit/>
          </a:bodyPr>
          <a:lstStyle/>
          <a:p>
            <a:pPr algn="l">
              <a:lnSpc>
                <a:spcPct val="92000"/>
              </a:lnSpc>
              <a:spcAft>
                <a:spcPts val="0"/>
              </a:spcAft>
            </a:pPr>
            <a:r>
              <a:rPr sz="3800" b="0">
                <a:solidFill>
                  <a:srgbClr val="1F2226"/>
                </a:solidFill>
                <a:latin typeface="Bahnschrift SemiBold"/>
              </a:rPr>
              <a:t>From replay
to a live twin</a:t>
            </a:r>
          </a:p>
        </p:txBody>
      </p:sp>
      <p:sp>
        <p:nvSpPr>
          <p:cNvPr id="11" name="!!body"/>
          <p:cNvSpPr txBox="1"/>
          <p:nvPr/>
        </p:nvSpPr>
        <p:spPr>
          <a:xfrm>
            <a:off x="548640" y="2514600"/>
            <a:ext cx="4389120" cy="1280160"/>
          </a:xfrm>
          <a:prstGeom prst="rect">
            <a:avLst/>
          </a:prstGeom>
          <a:noFill/>
        </p:spPr>
        <p:txBody>
          <a:bodyPr wrap="square" lIns="0" rIns="0" tIns="0" bIns="0" anchor="t">
            <a:spAutoFit/>
          </a:bodyPr>
          <a:lstStyle/>
          <a:p>
            <a:pPr algn="l">
              <a:lnSpc>
                <a:spcPct val="112000"/>
              </a:lnSpc>
              <a:spcAft>
                <a:spcPts val="0"/>
              </a:spcAft>
            </a:pPr>
            <a:r>
              <a:rPr sz="1350" b="0">
                <a:solidFill>
                  <a:srgbClr val="4A4D52"/>
                </a:solidFill>
                <a:latin typeface="Bahnschrift"/>
              </a:rPr>
              <a:t>A twin needs sensors. The replay already emits the events real devices would stream, so hardware can replace it one feed at a time.</a:t>
            </a:r>
          </a:p>
        </p:txBody>
      </p:sp>
      <p:sp>
        <p:nvSpPr>
          <p:cNvPr id="12" name="Rectangle 11"/>
          <p:cNvSpPr/>
          <p:nvPr/>
        </p:nvSpPr>
        <p:spPr>
          <a:xfrm>
            <a:off x="5641848" y="978408"/>
            <a:ext cx="5989320" cy="4192524"/>
          </a:xfrm>
          <a:prstGeom prst="rect">
            <a:avLst/>
          </a:prstGeom>
          <a:solidFill>
            <a:srgbClr val="1F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hero" descr="detail.jpg"/>
          <p:cNvPicPr>
            <a:picLocks noChangeAspect="1"/>
          </p:cNvPicPr>
          <p:nvPr/>
        </p:nvPicPr>
        <p:blipFill>
          <a:blip r:embed="rId3"/>
          <a:stretch>
            <a:fillRect/>
          </a:stretch>
        </p:blipFill>
        <p:spPr>
          <a:xfrm>
            <a:off x="5577840" y="914400"/>
            <a:ext cx="5989320" cy="4192524"/>
          </a:xfrm>
          <a:prstGeom prst="rect">
            <a:avLst/>
          </a:prstGeom>
          <a:ln w="12700">
            <a:solidFill>
              <a:srgbClr val="1F2226"/>
            </a:solidFill>
          </a:ln>
        </p:spPr>
      </p:pic>
      <p:sp>
        <p:nvSpPr>
          <p:cNvPr id="14" name="Rectangle 13"/>
          <p:cNvSpPr/>
          <p:nvPr/>
        </p:nvSpPr>
        <p:spPr>
          <a:xfrm>
            <a:off x="548640" y="5257800"/>
            <a:ext cx="2670733" cy="777240"/>
          </a:xfrm>
          <a:prstGeom prst="rect">
            <a:avLst/>
          </a:prstGeom>
          <a:solidFill>
            <a:srgbClr val="FAF7F0"/>
          </a:solidFill>
          <a:ln w="9525">
            <a:solidFill>
              <a:srgbClr val="1F22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330952"/>
            <a:ext cx="2396413" cy="274320"/>
          </a:xfrm>
          <a:prstGeom prst="rect">
            <a:avLst/>
          </a:prstGeom>
          <a:noFill/>
        </p:spPr>
        <p:txBody>
          <a:bodyPr wrap="square" lIns="0" rIns="0" tIns="0" bIns="0" anchor="t">
            <a:spAutoFit/>
          </a:bodyPr>
          <a:lstStyle/>
          <a:p>
            <a:pPr algn="l">
              <a:spcAft>
                <a:spcPts val="0"/>
              </a:spcAft>
            </a:pPr>
            <a:r>
              <a:rPr sz="1100" b="1" spc="60">
                <a:solidFill>
                  <a:srgbClr val="A8307E"/>
                </a:solidFill>
                <a:latin typeface="Bahnschrift SemiCondensed"/>
              </a:rPr>
              <a:t>RFID</a:t>
            </a:r>
            <a:r>
              <a:rPr sz="1100" b="0" spc="60">
                <a:solidFill>
                  <a:srgbClr val="4A4D52"/>
                </a:solidFill>
                <a:latin typeface="Bahnschrift"/>
              </a:rPr>
              <a:t>  Dock gate</a:t>
            </a:r>
          </a:p>
        </p:txBody>
      </p:sp>
      <p:sp>
        <p:nvSpPr>
          <p:cNvPr id="16" name="TextBox 15"/>
          <p:cNvSpPr txBox="1"/>
          <p:nvPr/>
        </p:nvSpPr>
        <p:spPr>
          <a:xfrm>
            <a:off x="685800" y="5669280"/>
            <a:ext cx="2396413" cy="274320"/>
          </a:xfrm>
          <a:prstGeom prst="rect">
            <a:avLst/>
          </a:prstGeom>
          <a:noFill/>
        </p:spPr>
        <p:txBody>
          <a:bodyPr wrap="square" lIns="0" rIns="0" tIns="0" bIns="0" anchor="t">
            <a:spAutoFit/>
          </a:bodyPr>
          <a:lstStyle/>
          <a:p>
            <a:pPr algn="l">
              <a:spcAft>
                <a:spcPts val="0"/>
              </a:spcAft>
            </a:pPr>
            <a:r>
              <a:rPr sz="950" b="0">
                <a:solidFill>
                  <a:srgbClr val="1F2226"/>
                </a:solidFill>
                <a:latin typeface="Cascadia Mono"/>
              </a:rPr>
              <a:t>cart_out C-01 · 4 totes</a:t>
            </a:r>
          </a:p>
        </p:txBody>
      </p:sp>
      <p:sp>
        <p:nvSpPr>
          <p:cNvPr id="17" name="Rectangle 16"/>
          <p:cNvSpPr/>
          <p:nvPr/>
        </p:nvSpPr>
        <p:spPr>
          <a:xfrm>
            <a:off x="3356533" y="5257800"/>
            <a:ext cx="2670733" cy="777240"/>
          </a:xfrm>
          <a:prstGeom prst="rect">
            <a:avLst/>
          </a:prstGeom>
          <a:solidFill>
            <a:srgbClr val="FAF7F0"/>
          </a:solidFill>
          <a:ln w="9525">
            <a:solidFill>
              <a:srgbClr val="1F22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693" y="5330952"/>
            <a:ext cx="2396413" cy="274320"/>
          </a:xfrm>
          <a:prstGeom prst="rect">
            <a:avLst/>
          </a:prstGeom>
          <a:noFill/>
        </p:spPr>
        <p:txBody>
          <a:bodyPr wrap="square" lIns="0" rIns="0" tIns="0" bIns="0" anchor="t">
            <a:spAutoFit/>
          </a:bodyPr>
          <a:lstStyle/>
          <a:p>
            <a:pPr algn="l">
              <a:spcAft>
                <a:spcPts val="0"/>
              </a:spcAft>
            </a:pPr>
            <a:r>
              <a:rPr sz="1100" b="1" spc="60">
                <a:solidFill>
                  <a:srgbClr val="2340B8"/>
                </a:solidFill>
                <a:latin typeface="Bahnschrift SemiCondensed"/>
              </a:rPr>
              <a:t>UWB</a:t>
            </a:r>
            <a:r>
              <a:rPr sz="1100" b="0" spc="60">
                <a:solidFill>
                  <a:srgbClr val="4A4D52"/>
                </a:solidFill>
                <a:latin typeface="Bahnschrift"/>
              </a:rPr>
              <a:t>  Cart tag</a:t>
            </a:r>
          </a:p>
        </p:txBody>
      </p:sp>
      <p:sp>
        <p:nvSpPr>
          <p:cNvPr id="19" name="TextBox 18"/>
          <p:cNvSpPr txBox="1"/>
          <p:nvPr/>
        </p:nvSpPr>
        <p:spPr>
          <a:xfrm>
            <a:off x="3493693" y="5669280"/>
            <a:ext cx="2396413" cy="274320"/>
          </a:xfrm>
          <a:prstGeom prst="rect">
            <a:avLst/>
          </a:prstGeom>
          <a:noFill/>
        </p:spPr>
        <p:txBody>
          <a:bodyPr wrap="square" lIns="0" rIns="0" tIns="0" bIns="0" anchor="t">
            <a:spAutoFit/>
          </a:bodyPr>
          <a:lstStyle/>
          <a:p>
            <a:pPr algn="l">
              <a:spcAft>
                <a:spcPts val="0"/>
              </a:spcAft>
            </a:pPr>
            <a:r>
              <a:rPr sz="950" b="0">
                <a:solidFill>
                  <a:srgbClr val="1F2226"/>
                </a:solidFill>
                <a:latin typeface="Cascadia Mono"/>
              </a:rPr>
              <a:t>x 12.5 z 1.0 · aisle 3</a:t>
            </a:r>
          </a:p>
        </p:txBody>
      </p:sp>
      <p:sp>
        <p:nvSpPr>
          <p:cNvPr id="20" name="Rectangle 19"/>
          <p:cNvSpPr/>
          <p:nvPr/>
        </p:nvSpPr>
        <p:spPr>
          <a:xfrm>
            <a:off x="6164427" y="5257800"/>
            <a:ext cx="2670733" cy="777240"/>
          </a:xfrm>
          <a:prstGeom prst="rect">
            <a:avLst/>
          </a:prstGeom>
          <a:solidFill>
            <a:srgbClr val="FAF7F0"/>
          </a:solidFill>
          <a:ln w="9525">
            <a:solidFill>
              <a:srgbClr val="1F22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1587" y="5330952"/>
            <a:ext cx="2396413" cy="274320"/>
          </a:xfrm>
          <a:prstGeom prst="rect">
            <a:avLst/>
          </a:prstGeom>
          <a:noFill/>
        </p:spPr>
        <p:txBody>
          <a:bodyPr wrap="square" lIns="0" rIns="0" tIns="0" bIns="0" anchor="t">
            <a:spAutoFit/>
          </a:bodyPr>
          <a:lstStyle/>
          <a:p>
            <a:pPr algn="l">
              <a:spcAft>
                <a:spcPts val="0"/>
              </a:spcAft>
            </a:pPr>
            <a:r>
              <a:rPr sz="1100" b="1" spc="60">
                <a:solidFill>
                  <a:srgbClr val="2E7D4F"/>
                </a:solidFill>
                <a:latin typeface="Bahnschrift SemiCondensed"/>
              </a:rPr>
              <a:t>PICK-TO-LIGHT</a:t>
            </a:r>
            <a:r>
              <a:rPr sz="1100" b="0" spc="60">
                <a:solidFill>
                  <a:srgbClr val="4A4D52"/>
                </a:solidFill>
                <a:latin typeface="Bahnschrift"/>
              </a:rPr>
              <a:t>  Every slot</a:t>
            </a:r>
          </a:p>
        </p:txBody>
      </p:sp>
      <p:sp>
        <p:nvSpPr>
          <p:cNvPr id="22" name="TextBox 21"/>
          <p:cNvSpPr txBox="1"/>
          <p:nvPr/>
        </p:nvSpPr>
        <p:spPr>
          <a:xfrm>
            <a:off x="6301587" y="5669280"/>
            <a:ext cx="2396413" cy="274320"/>
          </a:xfrm>
          <a:prstGeom prst="rect">
            <a:avLst/>
          </a:prstGeom>
          <a:noFill/>
        </p:spPr>
        <p:txBody>
          <a:bodyPr wrap="square" lIns="0" rIns="0" tIns="0" bIns="0" anchor="t">
            <a:spAutoFit/>
          </a:bodyPr>
          <a:lstStyle/>
          <a:p>
            <a:pPr algn="l">
              <a:spcAft>
                <a:spcPts val="0"/>
              </a:spcAft>
            </a:pPr>
            <a:r>
              <a:rPr sz="950" b="0">
                <a:solidFill>
                  <a:srgbClr val="1F2226"/>
                </a:solidFill>
                <a:latin typeface="Cascadia Mono"/>
              </a:rPr>
              <a:t>light_on A3-R05 · qty 6</a:t>
            </a:r>
          </a:p>
        </p:txBody>
      </p:sp>
      <p:sp>
        <p:nvSpPr>
          <p:cNvPr id="23" name="Rectangle 22"/>
          <p:cNvSpPr/>
          <p:nvPr/>
        </p:nvSpPr>
        <p:spPr>
          <a:xfrm>
            <a:off x="8972321" y="5257800"/>
            <a:ext cx="2670733" cy="777240"/>
          </a:xfrm>
          <a:prstGeom prst="rect">
            <a:avLst/>
          </a:prstGeom>
          <a:solidFill>
            <a:srgbClr val="FAF7F0"/>
          </a:solidFill>
          <a:ln w="9525">
            <a:solidFill>
              <a:srgbClr val="1F22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9481" y="5330952"/>
            <a:ext cx="2396413" cy="274320"/>
          </a:xfrm>
          <a:prstGeom prst="rect">
            <a:avLst/>
          </a:prstGeom>
          <a:noFill/>
        </p:spPr>
        <p:txBody>
          <a:bodyPr wrap="square" lIns="0" rIns="0" tIns="0" bIns="0" anchor="t">
            <a:spAutoFit/>
          </a:bodyPr>
          <a:lstStyle/>
          <a:p>
            <a:pPr algn="l">
              <a:spcAft>
                <a:spcPts val="0"/>
              </a:spcAft>
            </a:pPr>
            <a:r>
              <a:rPr sz="1100" b="1" spc="60">
                <a:solidFill>
                  <a:srgbClr val="E0442A"/>
                </a:solidFill>
                <a:latin typeface="Bahnschrift SemiCondensed"/>
              </a:rPr>
              <a:t>BARCODE</a:t>
            </a:r>
            <a:r>
              <a:rPr sz="1100" b="0" spc="60">
                <a:solidFill>
                  <a:srgbClr val="4A4D52"/>
                </a:solidFill>
                <a:latin typeface="Bahnschrift"/>
              </a:rPr>
              <a:t>  Picker scanner</a:t>
            </a:r>
          </a:p>
        </p:txBody>
      </p:sp>
      <p:sp>
        <p:nvSpPr>
          <p:cNvPr id="25" name="TextBox 24"/>
          <p:cNvSpPr txBox="1"/>
          <p:nvPr/>
        </p:nvSpPr>
        <p:spPr>
          <a:xfrm>
            <a:off x="9109481" y="5669280"/>
            <a:ext cx="2396413" cy="274320"/>
          </a:xfrm>
          <a:prstGeom prst="rect">
            <a:avLst/>
          </a:prstGeom>
          <a:noFill/>
        </p:spPr>
        <p:txBody>
          <a:bodyPr wrap="square" lIns="0" rIns="0" tIns="0" bIns="0" anchor="t">
            <a:spAutoFit/>
          </a:bodyPr>
          <a:lstStyle/>
          <a:p>
            <a:pPr algn="l">
              <a:spcAft>
                <a:spcPts val="0"/>
              </a:spcAft>
            </a:pPr>
            <a:r>
              <a:rPr sz="950" b="0">
                <a:solidFill>
                  <a:srgbClr val="1F2226"/>
                </a:solidFill>
                <a:latin typeface="Cascadia Mono"/>
              </a:rPr>
              <a:t>pick_confirmed 22694 ✓</a:t>
            </a:r>
          </a:p>
        </p:txBody>
      </p:sp>
      <p:sp>
        <p:nvSpPr>
          <p:cNvPr id="26" name="TextBox 25"/>
          <p:cNvSpPr txBox="1"/>
          <p:nvPr/>
        </p:nvSpPr>
        <p:spPr>
          <a:xfrm>
            <a:off x="548640" y="3886200"/>
            <a:ext cx="4754880" cy="640080"/>
          </a:xfrm>
          <a:prstGeom prst="rect">
            <a:avLst/>
          </a:prstGeom>
          <a:noFill/>
        </p:spPr>
        <p:txBody>
          <a:bodyPr wrap="square" lIns="0" rIns="0" tIns="0" bIns="0" anchor="t">
            <a:spAutoFit/>
          </a:bodyPr>
          <a:lstStyle/>
          <a:p>
            <a:pPr algn="l">
              <a:spcAft>
                <a:spcPts val="0"/>
              </a:spcAft>
            </a:pPr>
            <a:r>
              <a:rPr sz="2600" b="0">
                <a:solidFill>
                  <a:srgbClr val="E0442A"/>
                </a:solidFill>
                <a:latin typeface="Bahnschrift Light"/>
              </a:rPr>
              <a:t>Thank you. Questions?</a:t>
            </a:r>
          </a:p>
        </p:txBody>
      </p:sp>
      <p:sp>
        <p:nvSpPr>
          <p:cNvPr id="27" name="TextBox 26"/>
          <p:cNvSpPr txBox="1"/>
          <p:nvPr/>
        </p:nvSpPr>
        <p:spPr>
          <a:xfrm>
            <a:off x="548640" y="4526280"/>
            <a:ext cx="4754880" cy="365760"/>
          </a:xfrm>
          <a:prstGeom prst="rect">
            <a:avLst/>
          </a:prstGeom>
          <a:noFill/>
        </p:spPr>
        <p:txBody>
          <a:bodyPr wrap="square" lIns="0" rIns="0" tIns="0" bIns="0" anchor="t">
            <a:spAutoFit/>
          </a:bodyPr>
          <a:lstStyle/>
          <a:p>
            <a:pPr algn="l">
              <a:spcAft>
                <a:spcPts val="0"/>
              </a:spcAft>
            </a:pPr>
            <a:r>
              <a:rPr sz="1150" b="0">
                <a:solidFill>
                  <a:srgbClr val="4A4D52"/>
                </a:solidFill>
                <a:latin typeface="Bahnschrift"/>
              </a:rPr>
              <a:t>Next: live sensor input and dynamic re-slotting.</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